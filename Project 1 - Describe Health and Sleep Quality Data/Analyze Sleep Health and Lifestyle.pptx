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2" descr=""/>
          <p:cNvPicPr/>
          <p:nvPr/>
        </p:nvPicPr>
        <p:blipFill>
          <a:blip r:embed="rId2"/>
          <a:srcRect l="0" t="3414" r="0" b="-3403"/>
          <a:stretch/>
        </p:blipFill>
        <p:spPr>
          <a:xfrm>
            <a:off x="1239480" y="1254240"/>
            <a:ext cx="2876040" cy="544680"/>
          </a:xfrm>
          <a:prstGeom prst="rect">
            <a:avLst/>
          </a:prstGeom>
          <a:ln w="0">
            <a:noFill/>
          </a:ln>
        </p:spPr>
      </p:pic>
      <p:pic>
        <p:nvPicPr>
          <p:cNvPr id="1" name="Google Shape;11;p2" descr=""/>
          <p:cNvPicPr/>
          <p:nvPr/>
        </p:nvPicPr>
        <p:blipFill>
          <a:blip r:embed="rId3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3;p2"/>
          <p:cNvSpPr/>
          <p:nvPr/>
        </p:nvSpPr>
        <p:spPr>
          <a:xfrm>
            <a:off x="1225080" y="5937480"/>
            <a:ext cx="10068840" cy="12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" name="Google Shape;15;p2"/>
          <p:cNvGrpSpPr/>
          <p:nvPr/>
        </p:nvGrpSpPr>
        <p:grpSpPr>
          <a:xfrm>
            <a:off x="1231920" y="1034280"/>
            <a:ext cx="3495600" cy="984600"/>
            <a:chOff x="1231920" y="1034280"/>
            <a:chExt cx="3495600" cy="984600"/>
          </a:xfrm>
        </p:grpSpPr>
        <p:pic>
          <p:nvPicPr>
            <p:cNvPr id="4" name="Google Shape;16;p2" descr=""/>
            <p:cNvPicPr/>
            <p:nvPr/>
          </p:nvPicPr>
          <p:blipFill>
            <a:blip r:embed="rId4"/>
            <a:srcRect l="0" t="3414" r="0" b="-3403"/>
            <a:stretch/>
          </p:blipFill>
          <p:spPr>
            <a:xfrm>
              <a:off x="1491120" y="1244880"/>
              <a:ext cx="2977560" cy="564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" name="Google Shape;17;p2"/>
            <p:cNvSpPr/>
            <p:nvPr/>
          </p:nvSpPr>
          <p:spPr>
            <a:xfrm>
              <a:off x="1238400" y="1034280"/>
              <a:ext cx="3483000" cy="984600"/>
            </a:xfrm>
            <a:prstGeom prst="rect">
              <a:avLst/>
            </a:prstGeom>
            <a:solidFill>
              <a:srgbClr val="171a53"/>
            </a:solidFill>
            <a:ln w="9525">
              <a:solidFill>
                <a:srgbClr val="171a5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82880" rIns="182880" tIns="182880" bIns="1828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6" name="Google Shape;18;p2" descr=""/>
            <p:cNvPicPr/>
            <p:nvPr/>
          </p:nvPicPr>
          <p:blipFill>
            <a:blip r:embed="rId5"/>
            <a:stretch/>
          </p:blipFill>
          <p:spPr>
            <a:xfrm>
              <a:off x="1231920" y="1041840"/>
              <a:ext cx="3495600" cy="970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Google Shape;19;p2"/>
          <p:cNvSpPr/>
          <p:nvPr/>
        </p:nvSpPr>
        <p:spPr>
          <a:xfrm>
            <a:off x="279360" y="9860040"/>
            <a:ext cx="7913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d97ad"/>
                </a:solidFill>
                <a:latin typeface="Open Sans"/>
                <a:ea typeface="Open Sans"/>
              </a:rPr>
              <a:t>© 2024 Udacity.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91;p11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92;p11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Google Shape;93;p11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13" name="Google Shape;94;p11"/>
          <p:cNvSpPr/>
          <p:nvPr/>
        </p:nvSpPr>
        <p:spPr>
          <a:xfrm>
            <a:off x="-360" y="-720"/>
            <a:ext cx="18286560" cy="9142560"/>
          </a:xfrm>
          <a:prstGeom prst="rect">
            <a:avLst/>
          </a:prstGeom>
          <a:solidFill>
            <a:srgbClr val="f0f0f0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95;p11"/>
          <p:cNvSpPr/>
          <p:nvPr/>
        </p:nvSpPr>
        <p:spPr>
          <a:xfrm>
            <a:off x="685800" y="434520"/>
            <a:ext cx="16914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en" sz="4800" spc="-1" strike="noStrike">
                <a:solidFill>
                  <a:srgbClr val="0b0b0b"/>
                </a:solidFill>
                <a:latin typeface="Open Sans Light"/>
                <a:ea typeface="Open Sans Light"/>
              </a:rPr>
              <a:t>Title Placeholder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99;p12" descr=""/>
          <p:cNvPicPr/>
          <p:nvPr/>
        </p:nvPicPr>
        <p:blipFill>
          <a:blip r:embed="rId2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ln w="0">
            <a:noFill/>
          </a:ln>
        </p:spPr>
      </p:pic>
      <p:sp>
        <p:nvSpPr>
          <p:cNvPr id="16" name="Google Shape;100;p12"/>
          <p:cNvSpPr/>
          <p:nvPr/>
        </p:nvSpPr>
        <p:spPr>
          <a:xfrm flipH="1">
            <a:off x="1284120" y="1009800"/>
            <a:ext cx="15715440" cy="826668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1;p3" descr=""/>
          <p:cNvPicPr/>
          <p:nvPr/>
        </p:nvPicPr>
        <p:blipFill>
          <a:blip r:embed="rId3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ln w="0">
            <a:noFill/>
          </a:ln>
        </p:spPr>
      </p:pic>
      <p:sp>
        <p:nvSpPr>
          <p:cNvPr id="18" name="Google Shape;23;p3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Google Shape;24;p3" descr=""/>
          <p:cNvPicPr/>
          <p:nvPr/>
        </p:nvPicPr>
        <p:blipFill>
          <a:blip r:embed="rId4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6;p4"/>
          <p:cNvSpPr/>
          <p:nvPr/>
        </p:nvSpPr>
        <p:spPr>
          <a:xfrm>
            <a:off x="-360" y="0"/>
            <a:ext cx="18286560" cy="914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Google Shape;27;p4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22" name="Google Shape;30;p4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Google Shape;31;p4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3;p5"/>
          <p:cNvSpPr/>
          <p:nvPr/>
        </p:nvSpPr>
        <p:spPr>
          <a:xfrm>
            <a:off x="360" y="0"/>
            <a:ext cx="18286560" cy="11361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oogle Shape;35;p5" descr=""/>
          <p:cNvPicPr/>
          <p:nvPr/>
        </p:nvPicPr>
        <p:blipFill>
          <a:blip r:embed="rId2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37;p6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29" name="Google Shape;38;p6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Google Shape;39;p6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40;p6"/>
          <p:cNvSpPr/>
          <p:nvPr/>
        </p:nvSpPr>
        <p:spPr>
          <a:xfrm>
            <a:off x="-360" y="0"/>
            <a:ext cx="18286560" cy="914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41;p6"/>
          <p:cNvSpPr/>
          <p:nvPr/>
        </p:nvSpPr>
        <p:spPr>
          <a:xfrm>
            <a:off x="11623680" y="684360"/>
            <a:ext cx="5977080" cy="777276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42;p6"/>
          <p:cNvSpPr/>
          <p:nvPr/>
        </p:nvSpPr>
        <p:spPr>
          <a:xfrm>
            <a:off x="12058200" y="1523520"/>
            <a:ext cx="3913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48;p7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49;p7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Google Shape;50;p7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37" name="Google Shape;51;p7"/>
          <p:cNvSpPr/>
          <p:nvPr/>
        </p:nvSpPr>
        <p:spPr>
          <a:xfrm>
            <a:off x="-360" y="0"/>
            <a:ext cx="18286560" cy="914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52;p7"/>
          <p:cNvSpPr/>
          <p:nvPr/>
        </p:nvSpPr>
        <p:spPr>
          <a:xfrm>
            <a:off x="9829800" y="684360"/>
            <a:ext cx="7770960" cy="777276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58;p8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40" name="Google Shape;59;p8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Google Shape;60;p8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61;p8"/>
          <p:cNvSpPr/>
          <p:nvPr/>
        </p:nvSpPr>
        <p:spPr>
          <a:xfrm>
            <a:off x="-360" y="0"/>
            <a:ext cx="18286560" cy="914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62;p8"/>
          <p:cNvSpPr/>
          <p:nvPr/>
        </p:nvSpPr>
        <p:spPr>
          <a:xfrm>
            <a:off x="9487080" y="684360"/>
            <a:ext cx="8113680" cy="777276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Google Shape;63;p8"/>
          <p:cNvSpPr/>
          <p:nvPr/>
        </p:nvSpPr>
        <p:spPr>
          <a:xfrm flipH="1" rot="16200000">
            <a:off x="846360" y="495360"/>
            <a:ext cx="7784640" cy="813636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9;p9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70;p9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Google Shape;71;p9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72;p9"/>
          <p:cNvSpPr/>
          <p:nvPr/>
        </p:nvSpPr>
        <p:spPr>
          <a:xfrm>
            <a:off x="-360" y="0"/>
            <a:ext cx="18286560" cy="914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73;p9"/>
          <p:cNvSpPr/>
          <p:nvPr/>
        </p:nvSpPr>
        <p:spPr>
          <a:xfrm>
            <a:off x="6547320" y="1936080"/>
            <a:ext cx="5192280" cy="652104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74;p9"/>
          <p:cNvSpPr/>
          <p:nvPr/>
        </p:nvSpPr>
        <p:spPr>
          <a:xfrm>
            <a:off x="685800" y="1936080"/>
            <a:ext cx="5192280" cy="652104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75;p9"/>
          <p:cNvSpPr/>
          <p:nvPr/>
        </p:nvSpPr>
        <p:spPr>
          <a:xfrm>
            <a:off x="12408480" y="1936080"/>
            <a:ext cx="5192280" cy="652104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4;p10" descr=""/>
          <p:cNvPicPr/>
          <p:nvPr/>
        </p:nvPicPr>
        <p:blipFill>
          <a:blip r:embed="rId2"/>
          <a:stretch/>
        </p:blipFill>
        <p:spPr>
          <a:xfrm>
            <a:off x="0" y="9144000"/>
            <a:ext cx="18286560" cy="114156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5;p10"/>
          <p:cNvSpPr/>
          <p:nvPr/>
        </p:nvSpPr>
        <p:spPr>
          <a:xfrm>
            <a:off x="577080" y="9439920"/>
            <a:ext cx="2609280" cy="618840"/>
          </a:xfrm>
          <a:prstGeom prst="rect">
            <a:avLst/>
          </a:prstGeom>
          <a:solidFill>
            <a:srgbClr val="1425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Google Shape;86;p10" descr=""/>
          <p:cNvPicPr/>
          <p:nvPr/>
        </p:nvPicPr>
        <p:blipFill>
          <a:blip r:embed="rId3"/>
          <a:stretch/>
        </p:blipFill>
        <p:spPr>
          <a:xfrm>
            <a:off x="667800" y="9434160"/>
            <a:ext cx="2618280" cy="618840"/>
          </a:xfrm>
          <a:prstGeom prst="rect">
            <a:avLst/>
          </a:prstGeom>
          <a:ln w="0">
            <a:noFill/>
          </a:ln>
        </p:spPr>
      </p:pic>
      <p:sp>
        <p:nvSpPr>
          <p:cNvPr id="55" name="Google Shape;87;p10"/>
          <p:cNvSpPr/>
          <p:nvPr/>
        </p:nvSpPr>
        <p:spPr>
          <a:xfrm>
            <a:off x="-360" y="-720"/>
            <a:ext cx="18286560" cy="9142560"/>
          </a:xfrm>
          <a:prstGeom prst="rect">
            <a:avLst/>
          </a:prstGeom>
          <a:solidFill>
            <a:srgbClr val="f0f0f0"/>
          </a:solidFill>
          <a:ln w="0">
            <a:noFill/>
          </a:ln>
          <a:effectLst>
            <a:outerShdw algn="bl" blurRad="714240" dir="5400000" dist="2379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88;p10"/>
          <p:cNvSpPr/>
          <p:nvPr/>
        </p:nvSpPr>
        <p:spPr>
          <a:xfrm>
            <a:off x="685800" y="434520"/>
            <a:ext cx="169149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en" sz="4800" spc="-1" strike="noStrike">
                <a:solidFill>
                  <a:srgbClr val="0b0b0b"/>
                </a:solidFill>
                <a:latin typeface="Open Sans Light"/>
                <a:ea typeface="Open Sans Light"/>
              </a:rPr>
              <a:t>Title Placeholder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06;p13"/>
          <p:cNvSpPr/>
          <p:nvPr/>
        </p:nvSpPr>
        <p:spPr>
          <a:xfrm>
            <a:off x="279360" y="9860040"/>
            <a:ext cx="7913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7d97ad"/>
                </a:solidFill>
                <a:latin typeface="Open Sans"/>
                <a:ea typeface="Open Sans"/>
              </a:rPr>
              <a:t>© 2024 Udacity.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25080" y="2814120"/>
            <a:ext cx="10068840" cy="247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" sz="9000" spc="-1" strike="noStrike">
                <a:solidFill>
                  <a:schemeClr val="lt1"/>
                </a:solidFill>
                <a:latin typeface="Open Sans Light"/>
                <a:ea typeface="Open Sans Light"/>
              </a:rPr>
              <a:t>Sleep Health and Lifestyle Analysis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848960" y="5715000"/>
            <a:ext cx="10038240" cy="83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lt1"/>
                </a:solidFill>
                <a:latin typeface="Open Sans"/>
                <a:ea typeface="Open Sans"/>
              </a:rPr>
              <a:t>A Look At Sleep Health Data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chemeClr val="lt1"/>
                </a:solidFill>
                <a:latin typeface="Open Sans"/>
                <a:ea typeface="Open Sans"/>
              </a:rPr>
              <a:t>Data Scientist: Greg Hein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31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960" cy="150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Agenda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16392240" cy="662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400" spc="-1" strike="noStrike">
                <a:solidFill>
                  <a:schemeClr val="accent1"/>
                </a:solidFill>
                <a:latin typeface="Open Sans"/>
                <a:ea typeface="Open Sans"/>
              </a:rPr>
              <a:t>Results of sleep health and </a:t>
            </a:r>
            <a:r>
              <a:rPr b="0" lang="en" sz="5400" spc="-1" strike="noStrike">
                <a:solidFill>
                  <a:schemeClr val="accent1"/>
                </a:solidFill>
                <a:latin typeface="Open Sans"/>
                <a:ea typeface="Open Sans"/>
              </a:rPr>
              <a:t>lifestyle analysis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spcBef>
                <a:spcPts val="1400"/>
              </a:spcBef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800" spc="-1" strike="noStrike">
                <a:solidFill>
                  <a:schemeClr val="dk1"/>
                </a:solidFill>
                <a:latin typeface="Open Sans"/>
                <a:ea typeface="Open Sans"/>
              </a:rPr>
              <a:t>Data Description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800" spc="-1" strike="noStrike">
                <a:solidFill>
                  <a:schemeClr val="dk1"/>
                </a:solidFill>
                <a:latin typeface="Open Sans"/>
                <a:ea typeface="Open Sans"/>
              </a:rPr>
              <a:t>Typical Amount of Physical </a:t>
            </a:r>
            <a:r>
              <a:rPr b="0" lang="en" sz="4800" spc="-1" strike="noStrike">
                <a:solidFill>
                  <a:schemeClr val="dk1"/>
                </a:solidFill>
                <a:latin typeface="Open Sans"/>
                <a:ea typeface="Open Sans"/>
              </a:rPr>
              <a:t>Activity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800" spc="-1" strike="noStrike">
                <a:solidFill>
                  <a:schemeClr val="dk1"/>
                </a:solidFill>
                <a:latin typeface="Open Sans"/>
                <a:ea typeface="Open Sans"/>
              </a:rPr>
              <a:t>Number of Daily Steps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914400" indent="-723960">
              <a:lnSpc>
                <a:spcPct val="100000"/>
              </a:lnSpc>
              <a:buClr>
                <a:srgbClr val="0b0b0b"/>
              </a:buClr>
              <a:buFont typeface="Open Sans"/>
              <a:buChar char="●"/>
              <a:tabLst>
                <a:tab algn="l" pos="0"/>
              </a:tabLst>
            </a:pPr>
            <a:r>
              <a:rPr b="0" lang="en" sz="4800" spc="-1" strike="noStrike">
                <a:solidFill>
                  <a:schemeClr val="dk1"/>
                </a:solidFill>
                <a:latin typeface="Open Sans"/>
                <a:ea typeface="Open Sans"/>
              </a:rPr>
              <a:t>Distribution of Heart Rates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960" cy="150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Data Description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16392240" cy="548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chemeClr val="accent1"/>
                </a:solidFill>
                <a:latin typeface="Open Sans"/>
                <a:ea typeface="Open Sans"/>
              </a:rPr>
              <a:t>The Dataset has many different types of variables.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Sleep Duration is an example of a continuous variable in the dataset.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Physical Activity Level is an example of an integer variable in the dataset.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Quality of Sleep is an example of an ordinal categorical variable in the dataset.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Occupation is an example of a nominal categorical variable in the dataset.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960" cy="150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Typical Amount (Minutes) of Physical Activity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16392240" cy="251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Mean Physical Activity Level: 59.17 minutes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Median Physical Activity Level: 60.00 minutes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Mode Physical Activity Level: 60 minutes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15000"/>
              </a:lnSpc>
              <a:spcBef>
                <a:spcPts val="1400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8458200" y="3886200"/>
            <a:ext cx="9371520" cy="491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960" cy="150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Analysis of Daily Steps Taken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9600480" cy="319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Standard Deviation of Daily Steps: 1617.92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Maximum Daily Steps: 10000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Minimum Daily Steps: 3000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3600" spc="-1" strike="noStrike">
                <a:solidFill>
                  <a:schemeClr val="accent1"/>
                </a:solidFill>
                <a:latin typeface="Open Sans"/>
                <a:ea typeface="Open Sans"/>
              </a:rPr>
              <a:t>Range of Daily Steps: 7000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9277560" y="2743200"/>
            <a:ext cx="8095320" cy="571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307800"/>
            <a:ext cx="16914960" cy="150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400" spc="-1" strike="noStrike">
                <a:solidFill>
                  <a:schemeClr val="dk1"/>
                </a:solidFill>
                <a:latin typeface="Open Sans Light"/>
                <a:ea typeface="Open Sans Light"/>
              </a:rPr>
              <a:t>Distribution of Heart Rates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371600" y="3429000"/>
            <a:ext cx="6400080" cy="462600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10287000" y="3657600"/>
            <a:ext cx="6132960" cy="397080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3"/>
          <p:cNvSpPr/>
          <p:nvPr/>
        </p:nvSpPr>
        <p:spPr>
          <a:xfrm>
            <a:off x="1866240" y="1675800"/>
            <a:ext cx="14629680" cy="14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4200" spc="-1" strike="noStrike">
                <a:solidFill>
                  <a:schemeClr val="accent1"/>
                </a:solidFill>
                <a:latin typeface="Open Sans"/>
                <a:ea typeface="Open Sans"/>
              </a:rPr>
              <a:t>The plots below show the distribution of heart rates and illustrate a significant amount of outliers in the dataset.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2025-11-23T12:11:11Z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