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</p:sldIdLst>
  <p:sldSz cx="18288000" cy="10287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BODY_1_1_1_1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BODY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BODY_1_1_1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BODY_1_1_1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BODY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10;p2" descr=""/>
          <p:cNvPicPr/>
          <p:nvPr/>
        </p:nvPicPr>
        <p:blipFill>
          <a:blip r:embed="rId2"/>
          <a:srcRect l="0" t="3414" r="0" b="-3403"/>
          <a:stretch/>
        </p:blipFill>
        <p:spPr>
          <a:xfrm>
            <a:off x="1239480" y="1254240"/>
            <a:ext cx="2875320" cy="543960"/>
          </a:xfrm>
          <a:prstGeom prst="rect">
            <a:avLst/>
          </a:prstGeom>
          <a:ln w="0">
            <a:noFill/>
          </a:ln>
        </p:spPr>
      </p:pic>
      <p:pic>
        <p:nvPicPr>
          <p:cNvPr id="1" name="Google Shape;11;p2" descr=""/>
          <p:cNvPicPr/>
          <p:nvPr/>
        </p:nvPicPr>
        <p:blipFill>
          <a:blip r:embed="rId3"/>
          <a:stretch/>
        </p:blipFill>
        <p:spPr>
          <a:xfrm>
            <a:off x="0" y="0"/>
            <a:ext cx="18285840" cy="10284840"/>
          </a:xfrm>
          <a:prstGeom prst="rect">
            <a:avLst/>
          </a:prstGeom>
          <a:ln w="0">
            <a:noFill/>
          </a:ln>
        </p:spPr>
      </p:pic>
      <p:sp>
        <p:nvSpPr>
          <p:cNvPr id="2" name="Google Shape;13;p2"/>
          <p:cNvSpPr/>
          <p:nvPr/>
        </p:nvSpPr>
        <p:spPr>
          <a:xfrm>
            <a:off x="1225080" y="5937480"/>
            <a:ext cx="10068120" cy="129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3" name="Google Shape;15;p2"/>
          <p:cNvGrpSpPr/>
          <p:nvPr/>
        </p:nvGrpSpPr>
        <p:grpSpPr>
          <a:xfrm>
            <a:off x="1231920" y="1034280"/>
            <a:ext cx="3494880" cy="983880"/>
            <a:chOff x="1231920" y="1034280"/>
            <a:chExt cx="3494880" cy="983880"/>
          </a:xfrm>
        </p:grpSpPr>
        <p:pic>
          <p:nvPicPr>
            <p:cNvPr id="4" name="Google Shape;16;p2" descr=""/>
            <p:cNvPicPr/>
            <p:nvPr/>
          </p:nvPicPr>
          <p:blipFill>
            <a:blip r:embed="rId4"/>
            <a:srcRect l="0" t="3414" r="0" b="-3403"/>
            <a:stretch/>
          </p:blipFill>
          <p:spPr>
            <a:xfrm>
              <a:off x="1491120" y="1244880"/>
              <a:ext cx="2976840" cy="5634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5" name="Google Shape;17;p2"/>
            <p:cNvSpPr/>
            <p:nvPr/>
          </p:nvSpPr>
          <p:spPr>
            <a:xfrm>
              <a:off x="1238400" y="1034280"/>
              <a:ext cx="3482280" cy="983880"/>
            </a:xfrm>
            <a:prstGeom prst="rect">
              <a:avLst/>
            </a:prstGeom>
            <a:solidFill>
              <a:srgbClr val="171a53"/>
            </a:solidFill>
            <a:ln w="9525">
              <a:solidFill>
                <a:srgbClr val="171a5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82880" rIns="182880" tIns="182880" bIns="18288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6" name="Google Shape;18;p2" descr=""/>
            <p:cNvPicPr/>
            <p:nvPr/>
          </p:nvPicPr>
          <p:blipFill>
            <a:blip r:embed="rId5"/>
            <a:stretch/>
          </p:blipFill>
          <p:spPr>
            <a:xfrm>
              <a:off x="1231920" y="1041840"/>
              <a:ext cx="3494880" cy="96948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7" name="Google Shape;19;p2"/>
          <p:cNvSpPr/>
          <p:nvPr/>
        </p:nvSpPr>
        <p:spPr>
          <a:xfrm>
            <a:off x="279360" y="9860040"/>
            <a:ext cx="79131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7d97ad"/>
                </a:solidFill>
                <a:latin typeface="Open Sans"/>
                <a:ea typeface="Open Sans"/>
              </a:rPr>
              <a:t>© 2024 Udacity.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6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91;p11" descr=""/>
          <p:cNvPicPr/>
          <p:nvPr/>
        </p:nvPicPr>
        <p:blipFill>
          <a:blip r:embed="rId2"/>
          <a:stretch/>
        </p:blipFill>
        <p:spPr>
          <a:xfrm>
            <a:off x="0" y="9144000"/>
            <a:ext cx="18285840" cy="1140840"/>
          </a:xfrm>
          <a:prstGeom prst="rect">
            <a:avLst/>
          </a:prstGeom>
          <a:ln w="0">
            <a:noFill/>
          </a:ln>
        </p:spPr>
      </p:pic>
      <p:sp>
        <p:nvSpPr>
          <p:cNvPr id="11" name="Google Shape;92;p11"/>
          <p:cNvSpPr/>
          <p:nvPr/>
        </p:nvSpPr>
        <p:spPr>
          <a:xfrm>
            <a:off x="577080" y="9439920"/>
            <a:ext cx="2608560" cy="618120"/>
          </a:xfrm>
          <a:prstGeom prst="rect">
            <a:avLst/>
          </a:prstGeom>
          <a:solidFill>
            <a:srgbClr val="1425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" name="Google Shape;93;p11" descr=""/>
          <p:cNvPicPr/>
          <p:nvPr/>
        </p:nvPicPr>
        <p:blipFill>
          <a:blip r:embed="rId3"/>
          <a:stretch/>
        </p:blipFill>
        <p:spPr>
          <a:xfrm>
            <a:off x="667800" y="9434160"/>
            <a:ext cx="2617560" cy="618120"/>
          </a:xfrm>
          <a:prstGeom prst="rect">
            <a:avLst/>
          </a:prstGeom>
          <a:ln w="0">
            <a:noFill/>
          </a:ln>
        </p:spPr>
      </p:pic>
      <p:sp>
        <p:nvSpPr>
          <p:cNvPr id="13" name="Google Shape;94;p11"/>
          <p:cNvSpPr/>
          <p:nvPr/>
        </p:nvSpPr>
        <p:spPr>
          <a:xfrm>
            <a:off x="-360" y="-720"/>
            <a:ext cx="18285840" cy="9141840"/>
          </a:xfrm>
          <a:prstGeom prst="rect">
            <a:avLst/>
          </a:prstGeom>
          <a:solidFill>
            <a:srgbClr val="f0f0f0"/>
          </a:solidFill>
          <a:ln w="0">
            <a:noFill/>
          </a:ln>
          <a:effectLst>
            <a:outerShdw algn="bl" blurRad="714240" dir="5400000" dist="237960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Google Shape;95;p11"/>
          <p:cNvSpPr/>
          <p:nvPr/>
        </p:nvSpPr>
        <p:spPr>
          <a:xfrm>
            <a:off x="685800" y="434520"/>
            <a:ext cx="16914240" cy="6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spcAft>
                <a:spcPts val="2001"/>
              </a:spcAft>
              <a:tabLst>
                <a:tab algn="l" pos="0"/>
              </a:tabLst>
            </a:pPr>
            <a:r>
              <a:rPr b="0" lang="en" sz="4800" spc="-1" strike="noStrike">
                <a:solidFill>
                  <a:srgbClr val="0b0b0b"/>
                </a:solidFill>
                <a:latin typeface="Open Sans Light"/>
                <a:ea typeface="Open Sans Light"/>
              </a:rPr>
              <a:t>Title Placeholder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99;p12" descr=""/>
          <p:cNvPicPr/>
          <p:nvPr/>
        </p:nvPicPr>
        <p:blipFill>
          <a:blip r:embed="rId2"/>
          <a:stretch/>
        </p:blipFill>
        <p:spPr>
          <a:xfrm>
            <a:off x="0" y="0"/>
            <a:ext cx="18285840" cy="10284840"/>
          </a:xfrm>
          <a:prstGeom prst="rect">
            <a:avLst/>
          </a:prstGeom>
          <a:ln w="0">
            <a:noFill/>
          </a:ln>
        </p:spPr>
      </p:pic>
      <p:sp>
        <p:nvSpPr>
          <p:cNvPr id="16" name="Google Shape;100;p12"/>
          <p:cNvSpPr/>
          <p:nvPr/>
        </p:nvSpPr>
        <p:spPr>
          <a:xfrm flipH="1">
            <a:off x="1283400" y="1009800"/>
            <a:ext cx="15714720" cy="8265960"/>
          </a:xfrm>
          <a:prstGeom prst="round2DiagRect">
            <a:avLst>
              <a:gd name="adj1" fmla="val 20143"/>
              <a:gd name="adj2" fmla="val 0"/>
            </a:avLst>
          </a:prstGeom>
          <a:solidFill>
            <a:srgbClr val="f0f0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21;p3" descr=""/>
          <p:cNvPicPr/>
          <p:nvPr/>
        </p:nvPicPr>
        <p:blipFill>
          <a:blip r:embed="rId3"/>
          <a:stretch/>
        </p:blipFill>
        <p:spPr>
          <a:xfrm>
            <a:off x="0" y="0"/>
            <a:ext cx="18285840" cy="10284840"/>
          </a:xfrm>
          <a:prstGeom prst="rect">
            <a:avLst/>
          </a:prstGeom>
          <a:ln w="0">
            <a:noFill/>
          </a:ln>
        </p:spPr>
      </p:pic>
      <p:sp>
        <p:nvSpPr>
          <p:cNvPr id="18" name="Google Shape;23;p3"/>
          <p:cNvSpPr/>
          <p:nvPr/>
        </p:nvSpPr>
        <p:spPr>
          <a:xfrm>
            <a:off x="577080" y="9439920"/>
            <a:ext cx="2608560" cy="6181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" name="Google Shape;24;p3" descr=""/>
          <p:cNvPicPr/>
          <p:nvPr/>
        </p:nvPicPr>
        <p:blipFill>
          <a:blip r:embed="rId4"/>
          <a:stretch/>
        </p:blipFill>
        <p:spPr>
          <a:xfrm>
            <a:off x="667800" y="9434160"/>
            <a:ext cx="2617560" cy="61812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6;p4"/>
          <p:cNvSpPr/>
          <p:nvPr/>
        </p:nvSpPr>
        <p:spPr>
          <a:xfrm>
            <a:off x="-360" y="0"/>
            <a:ext cx="18285840" cy="9141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14240" dir="5400000" dist="237960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" name="Google Shape;27;p4" descr=""/>
          <p:cNvPicPr/>
          <p:nvPr/>
        </p:nvPicPr>
        <p:blipFill>
          <a:blip r:embed="rId2"/>
          <a:stretch/>
        </p:blipFill>
        <p:spPr>
          <a:xfrm>
            <a:off x="0" y="9144000"/>
            <a:ext cx="18285840" cy="1140840"/>
          </a:xfrm>
          <a:prstGeom prst="rect">
            <a:avLst/>
          </a:prstGeom>
          <a:ln w="0">
            <a:noFill/>
          </a:ln>
        </p:spPr>
      </p:pic>
      <p:sp>
        <p:nvSpPr>
          <p:cNvPr id="22" name="Google Shape;30;p4"/>
          <p:cNvSpPr/>
          <p:nvPr/>
        </p:nvSpPr>
        <p:spPr>
          <a:xfrm>
            <a:off x="577080" y="9439920"/>
            <a:ext cx="2608560" cy="618120"/>
          </a:xfrm>
          <a:prstGeom prst="rect">
            <a:avLst/>
          </a:prstGeom>
          <a:solidFill>
            <a:srgbClr val="1425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" name="Google Shape;31;p4" descr=""/>
          <p:cNvPicPr/>
          <p:nvPr/>
        </p:nvPicPr>
        <p:blipFill>
          <a:blip r:embed="rId3"/>
          <a:stretch/>
        </p:blipFill>
        <p:spPr>
          <a:xfrm>
            <a:off x="667800" y="9434160"/>
            <a:ext cx="2617560" cy="618120"/>
          </a:xfrm>
          <a:prstGeom prst="rect">
            <a:avLst/>
          </a:prstGeom>
          <a:ln w="0">
            <a:noFill/>
          </a:ln>
        </p:spPr>
      </p:pic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33;p5"/>
          <p:cNvSpPr/>
          <p:nvPr/>
        </p:nvSpPr>
        <p:spPr>
          <a:xfrm>
            <a:off x="360" y="0"/>
            <a:ext cx="18285840" cy="113544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182880" bIns="1828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" name="Google Shape;35;p5" descr=""/>
          <p:cNvPicPr/>
          <p:nvPr/>
        </p:nvPicPr>
        <p:blipFill>
          <a:blip r:embed="rId2"/>
          <a:stretch/>
        </p:blipFill>
        <p:spPr>
          <a:xfrm>
            <a:off x="667800" y="9434160"/>
            <a:ext cx="2617560" cy="61812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37;p6" descr=""/>
          <p:cNvPicPr/>
          <p:nvPr/>
        </p:nvPicPr>
        <p:blipFill>
          <a:blip r:embed="rId2"/>
          <a:stretch/>
        </p:blipFill>
        <p:spPr>
          <a:xfrm>
            <a:off x="0" y="9144000"/>
            <a:ext cx="18285840" cy="1140840"/>
          </a:xfrm>
          <a:prstGeom prst="rect">
            <a:avLst/>
          </a:prstGeom>
          <a:ln w="0">
            <a:noFill/>
          </a:ln>
        </p:spPr>
      </p:pic>
      <p:sp>
        <p:nvSpPr>
          <p:cNvPr id="29" name="Google Shape;38;p6"/>
          <p:cNvSpPr/>
          <p:nvPr/>
        </p:nvSpPr>
        <p:spPr>
          <a:xfrm>
            <a:off x="577080" y="9439920"/>
            <a:ext cx="2608560" cy="618120"/>
          </a:xfrm>
          <a:prstGeom prst="rect">
            <a:avLst/>
          </a:prstGeom>
          <a:solidFill>
            <a:srgbClr val="1425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0" name="Google Shape;39;p6" descr=""/>
          <p:cNvPicPr/>
          <p:nvPr/>
        </p:nvPicPr>
        <p:blipFill>
          <a:blip r:embed="rId3"/>
          <a:stretch/>
        </p:blipFill>
        <p:spPr>
          <a:xfrm>
            <a:off x="667800" y="9434160"/>
            <a:ext cx="2617560" cy="618120"/>
          </a:xfrm>
          <a:prstGeom prst="rect">
            <a:avLst/>
          </a:prstGeom>
          <a:ln w="0">
            <a:noFill/>
          </a:ln>
        </p:spPr>
      </p:pic>
      <p:sp>
        <p:nvSpPr>
          <p:cNvPr id="31" name="Google Shape;40;p6"/>
          <p:cNvSpPr/>
          <p:nvPr/>
        </p:nvSpPr>
        <p:spPr>
          <a:xfrm>
            <a:off x="-360" y="0"/>
            <a:ext cx="18285840" cy="9141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14240" dir="5400000" dist="237960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Google Shape;41;p6"/>
          <p:cNvSpPr/>
          <p:nvPr/>
        </p:nvSpPr>
        <p:spPr>
          <a:xfrm>
            <a:off x="11623680" y="684360"/>
            <a:ext cx="5976360" cy="7772040"/>
          </a:xfrm>
          <a:prstGeom prst="round1Rect">
            <a:avLst>
              <a:gd name="adj" fmla="val 28421"/>
            </a:avLst>
          </a:prstGeom>
          <a:solidFill>
            <a:srgbClr val="f0f0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Google Shape;42;p6"/>
          <p:cNvSpPr/>
          <p:nvPr/>
        </p:nvSpPr>
        <p:spPr>
          <a:xfrm>
            <a:off x="12058200" y="1523520"/>
            <a:ext cx="3912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spcAft>
                <a:spcPts val="2001"/>
              </a:spcAft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48;p7" descr=""/>
          <p:cNvPicPr/>
          <p:nvPr/>
        </p:nvPicPr>
        <p:blipFill>
          <a:blip r:embed="rId2"/>
          <a:stretch/>
        </p:blipFill>
        <p:spPr>
          <a:xfrm>
            <a:off x="0" y="9144000"/>
            <a:ext cx="18285840" cy="1140840"/>
          </a:xfrm>
          <a:prstGeom prst="rect">
            <a:avLst/>
          </a:prstGeom>
          <a:ln w="0">
            <a:noFill/>
          </a:ln>
        </p:spPr>
      </p:pic>
      <p:sp>
        <p:nvSpPr>
          <p:cNvPr id="35" name="Google Shape;49;p7"/>
          <p:cNvSpPr/>
          <p:nvPr/>
        </p:nvSpPr>
        <p:spPr>
          <a:xfrm>
            <a:off x="577080" y="9439920"/>
            <a:ext cx="2608560" cy="618120"/>
          </a:xfrm>
          <a:prstGeom prst="rect">
            <a:avLst/>
          </a:prstGeom>
          <a:solidFill>
            <a:srgbClr val="1425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6" name="Google Shape;50;p7" descr=""/>
          <p:cNvPicPr/>
          <p:nvPr/>
        </p:nvPicPr>
        <p:blipFill>
          <a:blip r:embed="rId3"/>
          <a:stretch/>
        </p:blipFill>
        <p:spPr>
          <a:xfrm>
            <a:off x="667800" y="9434160"/>
            <a:ext cx="2617560" cy="618120"/>
          </a:xfrm>
          <a:prstGeom prst="rect">
            <a:avLst/>
          </a:prstGeom>
          <a:ln w="0">
            <a:noFill/>
          </a:ln>
        </p:spPr>
      </p:pic>
      <p:sp>
        <p:nvSpPr>
          <p:cNvPr id="37" name="Google Shape;51;p7"/>
          <p:cNvSpPr/>
          <p:nvPr/>
        </p:nvSpPr>
        <p:spPr>
          <a:xfrm>
            <a:off x="-360" y="0"/>
            <a:ext cx="18285840" cy="9141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14240" dir="5400000" dist="237960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Google Shape;52;p7"/>
          <p:cNvSpPr/>
          <p:nvPr/>
        </p:nvSpPr>
        <p:spPr>
          <a:xfrm>
            <a:off x="9829800" y="684360"/>
            <a:ext cx="7770240" cy="7772040"/>
          </a:xfrm>
          <a:prstGeom prst="round1Rect">
            <a:avLst>
              <a:gd name="adj" fmla="val 22136"/>
            </a:avLst>
          </a:prstGeom>
          <a:solidFill>
            <a:srgbClr val="f0f0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4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58;p8" descr=""/>
          <p:cNvPicPr/>
          <p:nvPr/>
        </p:nvPicPr>
        <p:blipFill>
          <a:blip r:embed="rId2"/>
          <a:stretch/>
        </p:blipFill>
        <p:spPr>
          <a:xfrm>
            <a:off x="0" y="9144000"/>
            <a:ext cx="18285840" cy="1140840"/>
          </a:xfrm>
          <a:prstGeom prst="rect">
            <a:avLst/>
          </a:prstGeom>
          <a:ln w="0">
            <a:noFill/>
          </a:ln>
        </p:spPr>
      </p:pic>
      <p:sp>
        <p:nvSpPr>
          <p:cNvPr id="40" name="Google Shape;59;p8"/>
          <p:cNvSpPr/>
          <p:nvPr/>
        </p:nvSpPr>
        <p:spPr>
          <a:xfrm>
            <a:off x="577080" y="9439920"/>
            <a:ext cx="2608560" cy="618120"/>
          </a:xfrm>
          <a:prstGeom prst="rect">
            <a:avLst/>
          </a:prstGeom>
          <a:solidFill>
            <a:srgbClr val="1425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1" name="Google Shape;60;p8" descr=""/>
          <p:cNvPicPr/>
          <p:nvPr/>
        </p:nvPicPr>
        <p:blipFill>
          <a:blip r:embed="rId3"/>
          <a:stretch/>
        </p:blipFill>
        <p:spPr>
          <a:xfrm>
            <a:off x="667800" y="9434160"/>
            <a:ext cx="2617560" cy="618120"/>
          </a:xfrm>
          <a:prstGeom prst="rect">
            <a:avLst/>
          </a:prstGeom>
          <a:ln w="0">
            <a:noFill/>
          </a:ln>
        </p:spPr>
      </p:pic>
      <p:sp>
        <p:nvSpPr>
          <p:cNvPr id="42" name="Google Shape;61;p8"/>
          <p:cNvSpPr/>
          <p:nvPr/>
        </p:nvSpPr>
        <p:spPr>
          <a:xfrm>
            <a:off x="-360" y="0"/>
            <a:ext cx="18285840" cy="9141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14240" dir="5400000" dist="237960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Google Shape;62;p8"/>
          <p:cNvSpPr/>
          <p:nvPr/>
        </p:nvSpPr>
        <p:spPr>
          <a:xfrm>
            <a:off x="9487080" y="684360"/>
            <a:ext cx="8112960" cy="7772040"/>
          </a:xfrm>
          <a:prstGeom prst="round1Rect">
            <a:avLst>
              <a:gd name="adj" fmla="val 22136"/>
            </a:avLst>
          </a:prstGeom>
          <a:solidFill>
            <a:srgbClr val="f0f0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Google Shape;63;p8"/>
          <p:cNvSpPr/>
          <p:nvPr/>
        </p:nvSpPr>
        <p:spPr>
          <a:xfrm flipH="1" rot="16200000">
            <a:off x="846360" y="495360"/>
            <a:ext cx="7783920" cy="8135640"/>
          </a:xfrm>
          <a:prstGeom prst="round1Rect">
            <a:avLst>
              <a:gd name="adj" fmla="val 22136"/>
            </a:avLst>
          </a:prstGeom>
          <a:solidFill>
            <a:srgbClr val="f0f0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4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69;p9" descr=""/>
          <p:cNvPicPr/>
          <p:nvPr/>
        </p:nvPicPr>
        <p:blipFill>
          <a:blip r:embed="rId2"/>
          <a:stretch/>
        </p:blipFill>
        <p:spPr>
          <a:xfrm>
            <a:off x="0" y="9144000"/>
            <a:ext cx="18285840" cy="1140840"/>
          </a:xfrm>
          <a:prstGeom prst="rect">
            <a:avLst/>
          </a:prstGeom>
          <a:ln w="0">
            <a:noFill/>
          </a:ln>
        </p:spPr>
      </p:pic>
      <p:sp>
        <p:nvSpPr>
          <p:cNvPr id="46" name="Google Shape;70;p9"/>
          <p:cNvSpPr/>
          <p:nvPr/>
        </p:nvSpPr>
        <p:spPr>
          <a:xfrm>
            <a:off x="577080" y="9439920"/>
            <a:ext cx="2608560" cy="618120"/>
          </a:xfrm>
          <a:prstGeom prst="rect">
            <a:avLst/>
          </a:prstGeom>
          <a:solidFill>
            <a:srgbClr val="1425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7" name="Google Shape;71;p9" descr=""/>
          <p:cNvPicPr/>
          <p:nvPr/>
        </p:nvPicPr>
        <p:blipFill>
          <a:blip r:embed="rId3"/>
          <a:stretch/>
        </p:blipFill>
        <p:spPr>
          <a:xfrm>
            <a:off x="667800" y="9434160"/>
            <a:ext cx="2617560" cy="618120"/>
          </a:xfrm>
          <a:prstGeom prst="rect">
            <a:avLst/>
          </a:prstGeom>
          <a:ln w="0">
            <a:noFill/>
          </a:ln>
        </p:spPr>
      </p:pic>
      <p:sp>
        <p:nvSpPr>
          <p:cNvPr id="48" name="Google Shape;72;p9"/>
          <p:cNvSpPr/>
          <p:nvPr/>
        </p:nvSpPr>
        <p:spPr>
          <a:xfrm>
            <a:off x="-360" y="0"/>
            <a:ext cx="18285840" cy="9141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14240" dir="5400000" dist="237960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Google Shape;73;p9"/>
          <p:cNvSpPr/>
          <p:nvPr/>
        </p:nvSpPr>
        <p:spPr>
          <a:xfrm>
            <a:off x="6547320" y="1936080"/>
            <a:ext cx="5191560" cy="6520320"/>
          </a:xfrm>
          <a:prstGeom prst="round1Rect">
            <a:avLst>
              <a:gd name="adj" fmla="val 22136"/>
            </a:avLst>
          </a:prstGeom>
          <a:solidFill>
            <a:srgbClr val="f0f0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Google Shape;74;p9"/>
          <p:cNvSpPr/>
          <p:nvPr/>
        </p:nvSpPr>
        <p:spPr>
          <a:xfrm>
            <a:off x="685800" y="1936080"/>
            <a:ext cx="5191560" cy="6520320"/>
          </a:xfrm>
          <a:prstGeom prst="round1Rect">
            <a:avLst>
              <a:gd name="adj" fmla="val 22136"/>
            </a:avLst>
          </a:prstGeom>
          <a:solidFill>
            <a:srgbClr val="f0f0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Google Shape;75;p9"/>
          <p:cNvSpPr/>
          <p:nvPr/>
        </p:nvSpPr>
        <p:spPr>
          <a:xfrm>
            <a:off x="12408480" y="1936080"/>
            <a:ext cx="5191560" cy="6520320"/>
          </a:xfrm>
          <a:prstGeom prst="round1Rect">
            <a:avLst>
              <a:gd name="adj" fmla="val 22136"/>
            </a:avLst>
          </a:prstGeom>
          <a:solidFill>
            <a:srgbClr val="f0f0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4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84;p10" descr=""/>
          <p:cNvPicPr/>
          <p:nvPr/>
        </p:nvPicPr>
        <p:blipFill>
          <a:blip r:embed="rId2"/>
          <a:stretch/>
        </p:blipFill>
        <p:spPr>
          <a:xfrm>
            <a:off x="0" y="9144000"/>
            <a:ext cx="18285840" cy="1140840"/>
          </a:xfrm>
          <a:prstGeom prst="rect">
            <a:avLst/>
          </a:prstGeom>
          <a:ln w="0">
            <a:noFill/>
          </a:ln>
        </p:spPr>
      </p:pic>
      <p:sp>
        <p:nvSpPr>
          <p:cNvPr id="53" name="Google Shape;85;p10"/>
          <p:cNvSpPr/>
          <p:nvPr/>
        </p:nvSpPr>
        <p:spPr>
          <a:xfrm>
            <a:off x="577080" y="9439920"/>
            <a:ext cx="2608560" cy="618120"/>
          </a:xfrm>
          <a:prstGeom prst="rect">
            <a:avLst/>
          </a:prstGeom>
          <a:solidFill>
            <a:srgbClr val="1425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4" name="Google Shape;86;p10" descr=""/>
          <p:cNvPicPr/>
          <p:nvPr/>
        </p:nvPicPr>
        <p:blipFill>
          <a:blip r:embed="rId3"/>
          <a:stretch/>
        </p:blipFill>
        <p:spPr>
          <a:xfrm>
            <a:off x="667800" y="9434160"/>
            <a:ext cx="2617560" cy="618120"/>
          </a:xfrm>
          <a:prstGeom prst="rect">
            <a:avLst/>
          </a:prstGeom>
          <a:ln w="0">
            <a:noFill/>
          </a:ln>
        </p:spPr>
      </p:pic>
      <p:sp>
        <p:nvSpPr>
          <p:cNvPr id="55" name="Google Shape;87;p10"/>
          <p:cNvSpPr/>
          <p:nvPr/>
        </p:nvSpPr>
        <p:spPr>
          <a:xfrm>
            <a:off x="-360" y="-720"/>
            <a:ext cx="18285840" cy="9141840"/>
          </a:xfrm>
          <a:prstGeom prst="rect">
            <a:avLst/>
          </a:prstGeom>
          <a:solidFill>
            <a:srgbClr val="f0f0f0"/>
          </a:solidFill>
          <a:ln w="0">
            <a:noFill/>
          </a:ln>
          <a:effectLst>
            <a:outerShdw algn="bl" blurRad="714240" dir="5400000" dist="237960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Google Shape;88;p10"/>
          <p:cNvSpPr/>
          <p:nvPr/>
        </p:nvSpPr>
        <p:spPr>
          <a:xfrm>
            <a:off x="685800" y="434520"/>
            <a:ext cx="16914240" cy="6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spcAft>
                <a:spcPts val="2001"/>
              </a:spcAft>
              <a:tabLst>
                <a:tab algn="l" pos="0"/>
              </a:tabLst>
            </a:pPr>
            <a:r>
              <a:rPr b="0" lang="en" sz="4800" spc="-1" strike="noStrike">
                <a:solidFill>
                  <a:srgbClr val="0b0b0b"/>
                </a:solidFill>
                <a:latin typeface="Open Sans Light"/>
                <a:ea typeface="Open Sans Light"/>
              </a:rPr>
              <a:t>Title Placeholder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106;p13"/>
          <p:cNvSpPr/>
          <p:nvPr/>
        </p:nvSpPr>
        <p:spPr>
          <a:xfrm>
            <a:off x="279360" y="9860040"/>
            <a:ext cx="79131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7d97ad"/>
                </a:solidFill>
                <a:latin typeface="Open Sans"/>
                <a:ea typeface="Open Sans"/>
              </a:rPr>
              <a:t>© 2024 Udacity.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225080" y="2814120"/>
            <a:ext cx="10068120" cy="41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" sz="9000" spc="-1" strike="noStrike">
                <a:solidFill>
                  <a:schemeClr val="lt1"/>
                </a:solidFill>
                <a:latin typeface="Open Sans Light"/>
                <a:ea typeface="Open Sans Light"/>
              </a:rPr>
              <a:t>Calculation of Basketball Scoring Probabilities</a:t>
            </a:r>
            <a:endParaRPr b="0" lang="en-US" sz="9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1256040" y="7560000"/>
            <a:ext cx="10037520" cy="83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31000"/>
              </a:lnSpc>
              <a:buNone/>
              <a:tabLst>
                <a:tab algn="l" pos="0"/>
              </a:tabLst>
            </a:pPr>
            <a:r>
              <a:rPr b="1" lang="en" sz="3600" spc="-1" strike="noStrike">
                <a:solidFill>
                  <a:schemeClr val="lt1"/>
                </a:solidFill>
                <a:latin typeface="Open Sans"/>
                <a:ea typeface="Open Sans"/>
              </a:rPr>
              <a:t>Data Scientist: Greg Hein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31000"/>
              </a:lnSpc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85800" y="307800"/>
            <a:ext cx="16914240" cy="150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6400" spc="-1" strike="noStrike">
                <a:solidFill>
                  <a:schemeClr val="dk1"/>
                </a:solidFill>
                <a:latin typeface="Open Sans Light"/>
                <a:ea typeface="Open Sans Light"/>
              </a:rPr>
              <a:t>Agenda</a:t>
            </a:r>
            <a:endParaRPr b="0" lang="en-US" sz="6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685800" y="1828800"/>
            <a:ext cx="16391520" cy="6627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5400" spc="-1" strike="noStrike">
                <a:solidFill>
                  <a:schemeClr val="accent1"/>
                </a:solidFill>
                <a:latin typeface="Open Sans"/>
                <a:ea typeface="Open Sans"/>
              </a:rPr>
              <a:t>Results of Basketball Scoring Calculations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5400" spc="-1" strike="noStrike">
                <a:solidFill>
                  <a:schemeClr val="accent1"/>
                </a:solidFill>
                <a:latin typeface="Open Sans"/>
                <a:ea typeface="Open Sans"/>
              </a:rPr>
              <a:t>From Steph Curry’s 2022-2023 Season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chemeClr val="accent1"/>
                </a:solidFill>
                <a:latin typeface="Open Sans"/>
                <a:ea typeface="Open Sans"/>
              </a:rPr>
              <a:t>   </a:t>
            </a:r>
            <a:r>
              <a:rPr b="0" lang="en" sz="2800" spc="-1" strike="noStrike">
                <a:solidFill>
                  <a:schemeClr val="accent1"/>
                </a:solidFill>
                <a:latin typeface="Open Sans"/>
                <a:ea typeface="Open Sans"/>
              </a:rPr>
              <a:t>Dataset:  https://www.kaggle.com/datasets/dhavalrupapara/nba-2023-player-shot-dataset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914400" indent="-723960">
              <a:lnSpc>
                <a:spcPct val="100000"/>
              </a:lnSpc>
              <a:spcBef>
                <a:spcPts val="1400"/>
              </a:spcBef>
              <a:buClr>
                <a:srgbClr val="0b0b0b"/>
              </a:buClr>
              <a:buFont typeface="Open Sans"/>
              <a:buChar char="●"/>
              <a:tabLst>
                <a:tab algn="l" pos="0"/>
              </a:tabLst>
            </a:pPr>
            <a:r>
              <a:rPr b="0" lang="en" sz="4200" spc="-1" strike="noStrike">
                <a:solidFill>
                  <a:schemeClr val="dk1"/>
                </a:solidFill>
                <a:latin typeface="Open Sans"/>
                <a:ea typeface="Open Sans"/>
              </a:rPr>
              <a:t>Overall Shooting Statistics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  <a:p>
            <a:pPr marL="914400" indent="-723960">
              <a:lnSpc>
                <a:spcPct val="100000"/>
              </a:lnSpc>
              <a:buClr>
                <a:srgbClr val="0b0b0b"/>
              </a:buClr>
              <a:buFont typeface="Open Sans"/>
              <a:buChar char="●"/>
              <a:tabLst>
                <a:tab algn="l" pos="0"/>
              </a:tabLst>
            </a:pPr>
            <a:r>
              <a:rPr b="0" lang="en" sz="4200" spc="-1" strike="noStrike">
                <a:solidFill>
                  <a:schemeClr val="dk1"/>
                </a:solidFill>
                <a:latin typeface="Open Sans"/>
                <a:ea typeface="Open Sans"/>
              </a:rPr>
              <a:t>Probabilities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  <a:p>
            <a:pPr marL="914400" indent="-723960">
              <a:lnSpc>
                <a:spcPct val="100000"/>
              </a:lnSpc>
              <a:buClr>
                <a:srgbClr val="0b0b0b"/>
              </a:buClr>
              <a:buFont typeface="Open Sans"/>
              <a:buChar char="●"/>
              <a:tabLst>
                <a:tab algn="l" pos="0"/>
              </a:tabLst>
            </a:pPr>
            <a:r>
              <a:rPr b="0" lang="en" sz="4200" spc="-1" strike="noStrike">
                <a:solidFill>
                  <a:schemeClr val="dk1"/>
                </a:solidFill>
                <a:latin typeface="Open Sans"/>
                <a:ea typeface="Open Sans"/>
              </a:rPr>
              <a:t>Conditional Probabilities - Future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  <a:p>
            <a:pPr marL="914400" indent="-723960">
              <a:lnSpc>
                <a:spcPct val="100000"/>
              </a:lnSpc>
              <a:buClr>
                <a:srgbClr val="0b0b0b"/>
              </a:buClr>
              <a:buFont typeface="Open Sans"/>
              <a:buChar char="●"/>
              <a:tabLst>
                <a:tab algn="l" pos="0"/>
              </a:tabLst>
            </a:pPr>
            <a:r>
              <a:rPr b="0" lang="en" sz="4200" spc="-1" strike="noStrike">
                <a:solidFill>
                  <a:schemeClr val="dk1"/>
                </a:solidFill>
                <a:latin typeface="Open Sans"/>
                <a:ea typeface="Open Sans"/>
              </a:rPr>
              <a:t>Conditional Probabilities - Retrospective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  <a:p>
            <a:pPr marL="228600" indent="0">
              <a:lnSpc>
                <a:spcPct val="115000"/>
              </a:lnSpc>
              <a:spcBef>
                <a:spcPts val="1400"/>
              </a:spcBef>
              <a:spcAft>
                <a:spcPts val="2001"/>
              </a:spcAft>
              <a:buNone/>
              <a:tabLst>
                <a:tab algn="l" pos="0"/>
              </a:tabLst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85800" y="320400"/>
            <a:ext cx="16914240" cy="150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6400" spc="-1" strike="noStrike">
                <a:solidFill>
                  <a:schemeClr val="dk1"/>
                </a:solidFill>
                <a:latin typeface="Open Sans Light"/>
                <a:ea typeface="Open Sans Light"/>
              </a:rPr>
              <a:t>Steph’s Overall Shooting Statistics </a:t>
            </a:r>
            <a:br>
              <a:rPr sz="6400"/>
            </a:br>
            <a:r>
              <a:rPr b="1" lang="en" sz="6400" spc="-1" strike="noStrike">
                <a:solidFill>
                  <a:schemeClr val="dk1"/>
                </a:solidFill>
                <a:latin typeface="Open Sans Light"/>
                <a:ea typeface="Open Sans Light"/>
              </a:rPr>
              <a:t>(2022-2023 Season)</a:t>
            </a:r>
            <a:endParaRPr b="0" lang="en-US" sz="6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685800" y="1828800"/>
            <a:ext cx="16391520" cy="6627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1" lang="en" sz="4800" spc="-1" strike="noStrike">
                <a:solidFill>
                  <a:schemeClr val="accent1"/>
                </a:solidFill>
                <a:latin typeface="Open Sans"/>
                <a:ea typeface="Open Sans"/>
              </a:rPr>
              <a:t>  </a:t>
            </a:r>
            <a:r>
              <a:rPr b="1" lang="en" sz="4800" spc="-1" strike="noStrike">
                <a:solidFill>
                  <a:schemeClr val="accent1"/>
                </a:solidFill>
                <a:latin typeface="Open Sans"/>
                <a:ea typeface="Open Sans"/>
              </a:rPr>
              <a:t>Overall probability of a make: 0.4902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1" lang="en" sz="4800" spc="-1" strike="noStrike">
                <a:solidFill>
                  <a:schemeClr val="accent1"/>
                </a:solidFill>
                <a:latin typeface="Open Sans"/>
                <a:ea typeface="Open Sans"/>
              </a:rPr>
              <a:t>  </a:t>
            </a:r>
            <a:r>
              <a:rPr b="1" lang="en" sz="4800" spc="-1" strike="noStrike">
                <a:solidFill>
                  <a:schemeClr val="accent1"/>
                </a:solidFill>
                <a:latin typeface="Open Sans"/>
                <a:ea typeface="Open Sans"/>
              </a:rPr>
              <a:t>Overall probability of a miss: 0.5098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1" lang="en" sz="4800" spc="-1" strike="noStrike">
                <a:solidFill>
                  <a:schemeClr val="accent1"/>
                </a:solidFill>
                <a:latin typeface="Open Sans"/>
                <a:ea typeface="Open Sans"/>
              </a:rPr>
              <a:t>  </a:t>
            </a:r>
            <a:r>
              <a:rPr b="1" lang="en" sz="4800" spc="-1" strike="noStrike">
                <a:solidFill>
                  <a:schemeClr val="accent1"/>
                </a:solidFill>
                <a:latin typeface="Open Sans"/>
                <a:ea typeface="Open Sans"/>
              </a:rPr>
              <a:t>Overall proportion of 3 pointers:  0.5481  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1" lang="en" sz="4800" spc="-1" strike="noStrike">
                <a:solidFill>
                  <a:schemeClr val="accent1"/>
                </a:solidFill>
                <a:latin typeface="Open Sans"/>
                <a:ea typeface="Open Sans"/>
              </a:rPr>
              <a:t>  </a:t>
            </a:r>
            <a:r>
              <a:rPr b="1" lang="en" sz="4800" spc="-1" strike="noStrike">
                <a:solidFill>
                  <a:schemeClr val="accent1"/>
                </a:solidFill>
                <a:latin typeface="Open Sans"/>
                <a:ea typeface="Open Sans"/>
              </a:rPr>
              <a:t>Overall proportion of 2 pointers:  0.4519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  <a:p>
            <a:pPr marL="228600" indent="0">
              <a:lnSpc>
                <a:spcPct val="115000"/>
              </a:lnSpc>
              <a:spcBef>
                <a:spcPts val="1400"/>
              </a:spcBef>
              <a:spcAft>
                <a:spcPts val="2001"/>
              </a:spcAft>
              <a:buNone/>
              <a:tabLst>
                <a:tab algn="l" pos="0"/>
              </a:tabLst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85800" y="320400"/>
            <a:ext cx="16914240" cy="150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6400" spc="-1" strike="noStrike">
                <a:solidFill>
                  <a:schemeClr val="dk1"/>
                </a:solidFill>
                <a:latin typeface="Open Sans Light"/>
                <a:ea typeface="Open Sans Light"/>
              </a:rPr>
              <a:t>Probabilities</a:t>
            </a:r>
            <a:endParaRPr b="0" lang="en-US" sz="6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752760" y="1828080"/>
            <a:ext cx="16391520" cy="6627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" sz="3200" spc="-1" strike="noStrike">
                <a:solidFill>
                  <a:schemeClr val="accent1"/>
                </a:solidFill>
                <a:latin typeface="Open Sans"/>
                <a:ea typeface="Open Sans"/>
              </a:rPr>
              <a:t>Given the Results on the Previous Slide: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3200" spc="-1" strike="noStrike">
                <a:solidFill>
                  <a:schemeClr val="accent1"/>
                </a:solidFill>
                <a:latin typeface="Open Sans"/>
                <a:ea typeface="Open Sans"/>
              </a:rPr>
              <a:t>  </a:t>
            </a:r>
            <a:r>
              <a:rPr b="0" lang="en" sz="3200" spc="-1" strike="noStrike">
                <a:solidFill>
                  <a:schemeClr val="accent1"/>
                </a:solidFill>
                <a:latin typeface="Open Sans"/>
                <a:ea typeface="Open Sans"/>
              </a:rPr>
              <a:t>- Probability of Steph making 3 of the next 4 shots: 0.2402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" sz="3200" spc="-1" strike="noStrike">
                <a:solidFill>
                  <a:schemeClr val="accent1"/>
                </a:solidFill>
                <a:latin typeface="Open Sans"/>
                <a:ea typeface="Open Sans"/>
              </a:rPr>
              <a:t>  </a:t>
            </a:r>
            <a:r>
              <a:rPr b="0" lang="en" sz="3200" spc="-1" strike="noStrike">
                <a:solidFill>
                  <a:schemeClr val="accent1"/>
                </a:solidFill>
                <a:latin typeface="Open Sans"/>
                <a:ea typeface="Open Sans"/>
              </a:rPr>
              <a:t>- Probability that 4 of the next 5 shots taken by Steph are 3 pointers: 0.2039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" sz="3600" spc="-1" strike="noStrike">
                <a:solidFill>
                  <a:schemeClr val="accent1"/>
                </a:solidFill>
                <a:latin typeface="Open Sans"/>
                <a:ea typeface="Open Sans"/>
              </a:rPr>
              <a:t>The Probability Calculation Results Above Assume: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chemeClr val="accent1"/>
                </a:solidFill>
                <a:latin typeface="Open Sans"/>
                <a:ea typeface="Open Sans"/>
              </a:rPr>
              <a:t>  </a:t>
            </a:r>
            <a:r>
              <a:rPr b="0" lang="en" sz="2800" spc="-1" strike="noStrike">
                <a:solidFill>
                  <a:schemeClr val="accent1"/>
                </a:solidFill>
                <a:latin typeface="Open Sans"/>
                <a:ea typeface="Open Sans"/>
              </a:rPr>
              <a:t>- Each shot is independent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chemeClr val="accent1"/>
                </a:solidFill>
                <a:latin typeface="Open Sans"/>
                <a:ea typeface="Open Sans"/>
              </a:rPr>
              <a:t>  </a:t>
            </a:r>
            <a:r>
              <a:rPr b="0" lang="en" sz="2800" spc="-1" strike="noStrike">
                <a:solidFill>
                  <a:schemeClr val="accent1"/>
                </a:solidFill>
                <a:latin typeface="Open Sans"/>
                <a:ea typeface="Open Sans"/>
              </a:rPr>
              <a:t>- Each shot represents one of only two types: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chemeClr val="accent1"/>
                </a:solidFill>
                <a:latin typeface="Open Sans"/>
                <a:ea typeface="Open Sans"/>
              </a:rPr>
              <a:t>      </a:t>
            </a:r>
            <a:r>
              <a:rPr b="0" lang="en" sz="2600" spc="-1" strike="noStrike">
                <a:solidFill>
                  <a:schemeClr val="accent1"/>
                </a:solidFill>
                <a:latin typeface="Open Sans"/>
                <a:ea typeface="Open Sans"/>
              </a:rPr>
              <a:t>- make or miss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chemeClr val="accent1"/>
                </a:solidFill>
                <a:latin typeface="Open Sans"/>
                <a:ea typeface="Open Sans"/>
              </a:rPr>
              <a:t>      </a:t>
            </a:r>
            <a:r>
              <a:rPr b="0" lang="en" sz="2600" spc="-1" strike="noStrike">
                <a:solidFill>
                  <a:schemeClr val="accent1"/>
                </a:solidFill>
                <a:latin typeface="Open Sans"/>
                <a:ea typeface="Open Sans"/>
              </a:rPr>
              <a:t>- 2-pointer or 3-pointer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chemeClr val="accent1"/>
                </a:solidFill>
                <a:latin typeface="Open Sans"/>
                <a:ea typeface="Open Sans"/>
              </a:rPr>
              <a:t>  </a:t>
            </a:r>
            <a:r>
              <a:rPr b="0" lang="en" sz="2800" spc="-1" strike="noStrike">
                <a:solidFill>
                  <a:schemeClr val="accent1"/>
                </a:solidFill>
                <a:latin typeface="Open Sans"/>
                <a:ea typeface="Open Sans"/>
              </a:rPr>
              <a:t>- The probability of each of the 2 outcomes is the same for each shot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228600" indent="0">
              <a:lnSpc>
                <a:spcPct val="115000"/>
              </a:lnSpc>
              <a:spcBef>
                <a:spcPts val="1400"/>
              </a:spcBef>
              <a:spcAft>
                <a:spcPts val="2001"/>
              </a:spcAft>
              <a:buNone/>
              <a:tabLst>
                <a:tab algn="l" pos="0"/>
              </a:tabLst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85800" y="307800"/>
            <a:ext cx="16914240" cy="150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6400" spc="-1" strike="noStrike">
                <a:solidFill>
                  <a:schemeClr val="dk1"/>
                </a:solidFill>
                <a:latin typeface="Open Sans Light"/>
                <a:ea typeface="Open Sans Light"/>
              </a:rPr>
              <a:t>Conditional Probabilities - Future</a:t>
            </a:r>
            <a:endParaRPr b="0" lang="en-US" sz="6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752760" y="1600200"/>
            <a:ext cx="16391520" cy="6627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" sz="4000" spc="-1" strike="noStrike">
                <a:solidFill>
                  <a:schemeClr val="accent1"/>
                </a:solidFill>
                <a:latin typeface="Open Sans"/>
                <a:ea typeface="Open Sans"/>
              </a:rPr>
              <a:t>If the next shot Steph shoots is a three-pointer...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3600" spc="-1" strike="noStrike">
                <a:solidFill>
                  <a:schemeClr val="accent1"/>
                </a:solidFill>
                <a:latin typeface="Open Sans"/>
                <a:ea typeface="Open Sans"/>
              </a:rPr>
              <a:t>       </a:t>
            </a:r>
            <a:r>
              <a:rPr b="0" lang="en" sz="3600" spc="-1" strike="noStrike">
                <a:solidFill>
                  <a:schemeClr val="accent1"/>
                </a:solidFill>
                <a:latin typeface="Open Sans"/>
                <a:ea typeface="Open Sans"/>
              </a:rPr>
              <a:t>- </a:t>
            </a:r>
            <a:r>
              <a:rPr b="0" lang="en" sz="3200" spc="-1" strike="noStrike">
                <a:solidFill>
                  <a:schemeClr val="accent1"/>
                </a:solidFill>
                <a:latin typeface="Open Sans"/>
                <a:ea typeface="Open Sans"/>
              </a:rPr>
              <a:t>Probability of making a three-pointer: 0.4186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" sz="3200" spc="-1" strike="noStrike">
                <a:solidFill>
                  <a:schemeClr val="accent1"/>
                </a:solidFill>
                <a:latin typeface="Open Sans"/>
                <a:ea typeface="Open Sans"/>
              </a:rPr>
              <a:t>        </a:t>
            </a:r>
            <a:r>
              <a:rPr b="0" lang="en" sz="3200" spc="-1" strike="noStrike">
                <a:solidFill>
                  <a:schemeClr val="accent1"/>
                </a:solidFill>
                <a:latin typeface="Open Sans"/>
                <a:ea typeface="Open Sans"/>
              </a:rPr>
              <a:t>- Probability of a three-pointer being taken while the team had the lead: 0.4936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1" lang="en" sz="4000" spc="-1" strike="noStrike">
                <a:solidFill>
                  <a:schemeClr val="accent1"/>
                </a:solidFill>
                <a:latin typeface="Open Sans"/>
                <a:ea typeface="Open Sans"/>
              </a:rPr>
              <a:t>If the next shot Steph shoots is a two-pointer...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" sz="3200" spc="-1" strike="noStrike">
                <a:solidFill>
                  <a:schemeClr val="accent1"/>
                </a:solidFill>
                <a:latin typeface="Open Sans"/>
                <a:ea typeface="Open Sans"/>
              </a:rPr>
              <a:t>        </a:t>
            </a:r>
            <a:r>
              <a:rPr b="0" lang="en" sz="3200" spc="-1" strike="noStrike">
                <a:solidFill>
                  <a:schemeClr val="accent1"/>
                </a:solidFill>
                <a:latin typeface="Open Sans"/>
                <a:ea typeface="Open Sans"/>
              </a:rPr>
              <a:t>- Probability of making a two-pointer: 0.5772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" sz="3200" spc="-1" strike="noStrike">
                <a:solidFill>
                  <a:schemeClr val="accent1"/>
                </a:solidFill>
                <a:latin typeface="Open Sans"/>
                <a:ea typeface="Open Sans"/>
              </a:rPr>
              <a:t>        </a:t>
            </a:r>
            <a:r>
              <a:rPr b="0" lang="en" sz="3200" spc="-1" strike="noStrike">
                <a:solidFill>
                  <a:schemeClr val="accent1"/>
                </a:solidFill>
                <a:latin typeface="Open Sans"/>
                <a:ea typeface="Open Sans"/>
              </a:rPr>
              <a:t>- Probability of a two-pointer being taken while the team had the lead: 0.5154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85800" y="307800"/>
            <a:ext cx="16914240" cy="150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6400" spc="-1" strike="noStrike">
                <a:solidFill>
                  <a:schemeClr val="dk1"/>
                </a:solidFill>
                <a:latin typeface="Open Sans Light"/>
                <a:ea typeface="Open Sans Light"/>
              </a:rPr>
              <a:t>Conditional Probabilities - Retrospective</a:t>
            </a:r>
            <a:endParaRPr b="0" lang="en-US" sz="6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685800" y="1828800"/>
            <a:ext cx="16391520" cy="6627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4200" spc="-1" strike="noStrike">
                <a:solidFill>
                  <a:schemeClr val="accent1"/>
                </a:solidFill>
                <a:latin typeface="Open Sans"/>
                <a:ea typeface="Open Sans"/>
              </a:rPr>
              <a:t>  </a:t>
            </a:r>
            <a:r>
              <a:rPr b="1" lang="en" sz="4200" spc="-1" strike="noStrike">
                <a:solidFill>
                  <a:schemeClr val="accent1"/>
                </a:solidFill>
                <a:latin typeface="Open Sans"/>
                <a:ea typeface="Open Sans"/>
              </a:rPr>
              <a:t>If Steph just made a shot...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" sz="3600" spc="-1" strike="noStrike">
                <a:solidFill>
                  <a:schemeClr val="accent1"/>
                </a:solidFill>
                <a:latin typeface="Open Sans"/>
                <a:ea typeface="Open Sans"/>
              </a:rPr>
              <a:t>  </a:t>
            </a:r>
            <a:r>
              <a:rPr b="0" lang="en" sz="3600" spc="-1" strike="noStrike">
                <a:solidFill>
                  <a:schemeClr val="accent1"/>
                </a:solidFill>
                <a:latin typeface="Open Sans"/>
                <a:ea typeface="Open Sans"/>
              </a:rPr>
              <a:t>- Conditional probability of a made shot being a three-pointer: 0.4680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" sz="3600" spc="-1" strike="noStrike">
                <a:solidFill>
                  <a:schemeClr val="accent1"/>
                </a:solidFill>
                <a:latin typeface="Open Sans"/>
                <a:ea typeface="Open Sans"/>
              </a:rPr>
              <a:t>  </a:t>
            </a:r>
            <a:r>
              <a:rPr b="0" lang="en" sz="3600" spc="-1" strike="noStrike">
                <a:solidFill>
                  <a:schemeClr val="accent1"/>
                </a:solidFill>
                <a:latin typeface="Open Sans"/>
                <a:ea typeface="Open Sans"/>
              </a:rPr>
              <a:t>- Conditional probability of a made shot being a two-pointer:  0.5320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228600" indent="0">
              <a:lnSpc>
                <a:spcPct val="115000"/>
              </a:lnSpc>
              <a:spcBef>
                <a:spcPts val="1400"/>
              </a:spcBef>
              <a:spcAft>
                <a:spcPts val="2001"/>
              </a:spcAft>
              <a:buNone/>
              <a:tabLst>
                <a:tab algn="l" pos="0"/>
              </a:tabLst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Udacity 2024 Student Template">
  <a:themeElements>
    <a:clrScheme name="Simple Light">
      <a:dk1>
        <a:srgbClr val="0b0b0b"/>
      </a:dk1>
      <a:lt1>
        <a:srgbClr val="ffffff"/>
      </a:lt1>
      <a:dk2>
        <a:srgbClr val="171a53"/>
      </a:dk2>
      <a:lt2>
        <a:srgbClr val="f6f6f6"/>
      </a:lt2>
      <a:accent1>
        <a:srgbClr val="2015ff"/>
      </a:accent1>
      <a:accent2>
        <a:srgbClr val="00c5a1"/>
      </a:accent2>
      <a:accent3>
        <a:srgbClr val="dbe2e8"/>
      </a:accent3>
      <a:accent4>
        <a:srgbClr val="bdea09"/>
      </a:accent4>
      <a:accent5>
        <a:srgbClr val="6597ff"/>
      </a:accent5>
      <a:accent6>
        <a:srgbClr val="b181ff"/>
      </a:accent6>
      <a:hlink>
        <a:srgbClr val="2015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Udacity 2024 Student Template">
  <a:themeElements>
    <a:clrScheme name="Simple Light">
      <a:dk1>
        <a:srgbClr val="0b0b0b"/>
      </a:dk1>
      <a:lt1>
        <a:srgbClr val="ffffff"/>
      </a:lt1>
      <a:dk2>
        <a:srgbClr val="171a53"/>
      </a:dk2>
      <a:lt2>
        <a:srgbClr val="f6f6f6"/>
      </a:lt2>
      <a:accent1>
        <a:srgbClr val="2015ff"/>
      </a:accent1>
      <a:accent2>
        <a:srgbClr val="00c5a1"/>
      </a:accent2>
      <a:accent3>
        <a:srgbClr val="dbe2e8"/>
      </a:accent3>
      <a:accent4>
        <a:srgbClr val="bdea09"/>
      </a:accent4>
      <a:accent5>
        <a:srgbClr val="6597ff"/>
      </a:accent5>
      <a:accent6>
        <a:srgbClr val="b181ff"/>
      </a:accent6>
      <a:hlink>
        <a:srgbClr val="2015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Udacity 2024 Student Template">
  <a:themeElements>
    <a:clrScheme name="Simple Light">
      <a:dk1>
        <a:srgbClr val="0b0b0b"/>
      </a:dk1>
      <a:lt1>
        <a:srgbClr val="ffffff"/>
      </a:lt1>
      <a:dk2>
        <a:srgbClr val="171a53"/>
      </a:dk2>
      <a:lt2>
        <a:srgbClr val="f6f6f6"/>
      </a:lt2>
      <a:accent1>
        <a:srgbClr val="2015ff"/>
      </a:accent1>
      <a:accent2>
        <a:srgbClr val="00c5a1"/>
      </a:accent2>
      <a:accent3>
        <a:srgbClr val="dbe2e8"/>
      </a:accent3>
      <a:accent4>
        <a:srgbClr val="bdea09"/>
      </a:accent4>
      <a:accent5>
        <a:srgbClr val="6597ff"/>
      </a:accent5>
      <a:accent6>
        <a:srgbClr val="b181ff"/>
      </a:accent6>
      <a:hlink>
        <a:srgbClr val="2015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Udacity 2024 Student Template">
  <a:themeElements>
    <a:clrScheme name="Simple Light">
      <a:dk1>
        <a:srgbClr val="0b0b0b"/>
      </a:dk1>
      <a:lt1>
        <a:srgbClr val="ffffff"/>
      </a:lt1>
      <a:dk2>
        <a:srgbClr val="171a53"/>
      </a:dk2>
      <a:lt2>
        <a:srgbClr val="f6f6f6"/>
      </a:lt2>
      <a:accent1>
        <a:srgbClr val="2015ff"/>
      </a:accent1>
      <a:accent2>
        <a:srgbClr val="00c5a1"/>
      </a:accent2>
      <a:accent3>
        <a:srgbClr val="dbe2e8"/>
      </a:accent3>
      <a:accent4>
        <a:srgbClr val="bdea09"/>
      </a:accent4>
      <a:accent5>
        <a:srgbClr val="6597ff"/>
      </a:accent5>
      <a:accent6>
        <a:srgbClr val="b181ff"/>
      </a:accent6>
      <a:hlink>
        <a:srgbClr val="2015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Udacity 2024 Student Template">
  <a:themeElements>
    <a:clrScheme name="Simple Light">
      <a:dk1>
        <a:srgbClr val="0b0b0b"/>
      </a:dk1>
      <a:lt1>
        <a:srgbClr val="ffffff"/>
      </a:lt1>
      <a:dk2>
        <a:srgbClr val="171a53"/>
      </a:dk2>
      <a:lt2>
        <a:srgbClr val="f6f6f6"/>
      </a:lt2>
      <a:accent1>
        <a:srgbClr val="2015ff"/>
      </a:accent1>
      <a:accent2>
        <a:srgbClr val="00c5a1"/>
      </a:accent2>
      <a:accent3>
        <a:srgbClr val="dbe2e8"/>
      </a:accent3>
      <a:accent4>
        <a:srgbClr val="bdea09"/>
      </a:accent4>
      <a:accent5>
        <a:srgbClr val="6597ff"/>
      </a:accent5>
      <a:accent6>
        <a:srgbClr val="b181ff"/>
      </a:accent6>
      <a:hlink>
        <a:srgbClr val="2015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Udacity 2024 Student Template">
  <a:themeElements>
    <a:clrScheme name="Simple Light">
      <a:dk1>
        <a:srgbClr val="0b0b0b"/>
      </a:dk1>
      <a:lt1>
        <a:srgbClr val="ffffff"/>
      </a:lt1>
      <a:dk2>
        <a:srgbClr val="171a53"/>
      </a:dk2>
      <a:lt2>
        <a:srgbClr val="f6f6f6"/>
      </a:lt2>
      <a:accent1>
        <a:srgbClr val="2015ff"/>
      </a:accent1>
      <a:accent2>
        <a:srgbClr val="00c5a1"/>
      </a:accent2>
      <a:accent3>
        <a:srgbClr val="dbe2e8"/>
      </a:accent3>
      <a:accent4>
        <a:srgbClr val="bdea09"/>
      </a:accent4>
      <a:accent5>
        <a:srgbClr val="6597ff"/>
      </a:accent5>
      <a:accent6>
        <a:srgbClr val="b181ff"/>
      </a:accent6>
      <a:hlink>
        <a:srgbClr val="2015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Udacity 2024 Student Template">
  <a:themeElements>
    <a:clrScheme name="Simple Light">
      <a:dk1>
        <a:srgbClr val="0b0b0b"/>
      </a:dk1>
      <a:lt1>
        <a:srgbClr val="ffffff"/>
      </a:lt1>
      <a:dk2>
        <a:srgbClr val="171a53"/>
      </a:dk2>
      <a:lt2>
        <a:srgbClr val="f6f6f6"/>
      </a:lt2>
      <a:accent1>
        <a:srgbClr val="2015ff"/>
      </a:accent1>
      <a:accent2>
        <a:srgbClr val="00c5a1"/>
      </a:accent2>
      <a:accent3>
        <a:srgbClr val="dbe2e8"/>
      </a:accent3>
      <a:accent4>
        <a:srgbClr val="bdea09"/>
      </a:accent4>
      <a:accent5>
        <a:srgbClr val="6597ff"/>
      </a:accent5>
      <a:accent6>
        <a:srgbClr val="b181ff"/>
      </a:accent6>
      <a:hlink>
        <a:srgbClr val="2015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Udacity 2024 Student Template">
  <a:themeElements>
    <a:clrScheme name="Simple Light">
      <a:dk1>
        <a:srgbClr val="0b0b0b"/>
      </a:dk1>
      <a:lt1>
        <a:srgbClr val="ffffff"/>
      </a:lt1>
      <a:dk2>
        <a:srgbClr val="171a53"/>
      </a:dk2>
      <a:lt2>
        <a:srgbClr val="f6f6f6"/>
      </a:lt2>
      <a:accent1>
        <a:srgbClr val="2015ff"/>
      </a:accent1>
      <a:accent2>
        <a:srgbClr val="00c5a1"/>
      </a:accent2>
      <a:accent3>
        <a:srgbClr val="dbe2e8"/>
      </a:accent3>
      <a:accent4>
        <a:srgbClr val="bdea09"/>
      </a:accent4>
      <a:accent5>
        <a:srgbClr val="6597ff"/>
      </a:accent5>
      <a:accent6>
        <a:srgbClr val="b181ff"/>
      </a:accent6>
      <a:hlink>
        <a:srgbClr val="2015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Udacity 2024 Student Template">
  <a:themeElements>
    <a:clrScheme name="Simple Light">
      <a:dk1>
        <a:srgbClr val="0b0b0b"/>
      </a:dk1>
      <a:lt1>
        <a:srgbClr val="ffffff"/>
      </a:lt1>
      <a:dk2>
        <a:srgbClr val="171a53"/>
      </a:dk2>
      <a:lt2>
        <a:srgbClr val="f6f6f6"/>
      </a:lt2>
      <a:accent1>
        <a:srgbClr val="2015ff"/>
      </a:accent1>
      <a:accent2>
        <a:srgbClr val="00c5a1"/>
      </a:accent2>
      <a:accent3>
        <a:srgbClr val="dbe2e8"/>
      </a:accent3>
      <a:accent4>
        <a:srgbClr val="bdea09"/>
      </a:accent4>
      <a:accent5>
        <a:srgbClr val="6597ff"/>
      </a:accent5>
      <a:accent6>
        <a:srgbClr val="b181ff"/>
      </a:accent6>
      <a:hlink>
        <a:srgbClr val="2015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Udacity 2024 Student Template">
  <a:themeElements>
    <a:clrScheme name="Simple Light">
      <a:dk1>
        <a:srgbClr val="0b0b0b"/>
      </a:dk1>
      <a:lt1>
        <a:srgbClr val="ffffff"/>
      </a:lt1>
      <a:dk2>
        <a:srgbClr val="171a53"/>
      </a:dk2>
      <a:lt2>
        <a:srgbClr val="f6f6f6"/>
      </a:lt2>
      <a:accent1>
        <a:srgbClr val="2015ff"/>
      </a:accent1>
      <a:accent2>
        <a:srgbClr val="00c5a1"/>
      </a:accent2>
      <a:accent3>
        <a:srgbClr val="dbe2e8"/>
      </a:accent3>
      <a:accent4>
        <a:srgbClr val="bdea09"/>
      </a:accent4>
      <a:accent5>
        <a:srgbClr val="6597ff"/>
      </a:accent5>
      <a:accent6>
        <a:srgbClr val="b181ff"/>
      </a:accent6>
      <a:hlink>
        <a:srgbClr val="2015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Udacity 2024 Student Template">
  <a:themeElements>
    <a:clrScheme name="Simple Light">
      <a:dk1>
        <a:srgbClr val="0b0b0b"/>
      </a:dk1>
      <a:lt1>
        <a:srgbClr val="ffffff"/>
      </a:lt1>
      <a:dk2>
        <a:srgbClr val="171a53"/>
      </a:dk2>
      <a:lt2>
        <a:srgbClr val="f6f6f6"/>
      </a:lt2>
      <a:accent1>
        <a:srgbClr val="2015ff"/>
      </a:accent1>
      <a:accent2>
        <a:srgbClr val="00c5a1"/>
      </a:accent2>
      <a:accent3>
        <a:srgbClr val="dbe2e8"/>
      </a:accent3>
      <a:accent4>
        <a:srgbClr val="bdea09"/>
      </a:accent4>
      <a:accent5>
        <a:srgbClr val="6597ff"/>
      </a:accent5>
      <a:accent6>
        <a:srgbClr val="b181ff"/>
      </a:accent6>
      <a:hlink>
        <a:srgbClr val="2015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lastPrinted>2025-11-28T19:50:50Z</cp:lastPrinted>
  <dcterms:modified xsi:type="dcterms:W3CDTF">2025-11-28T19:50:58Z</dcterms:modified>
  <cp:revision>20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