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0;p2" descr=""/>
          <p:cNvPicPr/>
          <p:nvPr/>
        </p:nvPicPr>
        <p:blipFill>
          <a:blip r:embed="rId2"/>
          <a:srcRect l="0" t="3414" r="0" b="-3403"/>
          <a:stretch/>
        </p:blipFill>
        <p:spPr>
          <a:xfrm>
            <a:off x="1239480" y="1254240"/>
            <a:ext cx="2876400" cy="545040"/>
          </a:xfrm>
          <a:prstGeom prst="rect">
            <a:avLst/>
          </a:prstGeom>
          <a:ln w="0">
            <a:noFill/>
          </a:ln>
        </p:spPr>
      </p:pic>
      <p:pic>
        <p:nvPicPr>
          <p:cNvPr id="1" name="Google Shape;11;p2" descr=""/>
          <p:cNvPicPr/>
          <p:nvPr/>
        </p:nvPicPr>
        <p:blipFill>
          <a:blip r:embed="rId3"/>
          <a:stretch/>
        </p:blipFill>
        <p:spPr>
          <a:xfrm>
            <a:off x="0" y="0"/>
            <a:ext cx="18286920" cy="1028592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13;p2"/>
          <p:cNvSpPr/>
          <p:nvPr/>
        </p:nvSpPr>
        <p:spPr>
          <a:xfrm>
            <a:off x="1225080" y="5937480"/>
            <a:ext cx="10069200" cy="12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" name="Google Shape;15;p2"/>
          <p:cNvGrpSpPr/>
          <p:nvPr/>
        </p:nvGrpSpPr>
        <p:grpSpPr>
          <a:xfrm>
            <a:off x="1231920" y="1034280"/>
            <a:ext cx="3495960" cy="984960"/>
            <a:chOff x="1231920" y="1034280"/>
            <a:chExt cx="3495960" cy="984960"/>
          </a:xfrm>
        </p:grpSpPr>
        <p:pic>
          <p:nvPicPr>
            <p:cNvPr id="4" name="Google Shape;16;p2" descr=""/>
            <p:cNvPicPr/>
            <p:nvPr/>
          </p:nvPicPr>
          <p:blipFill>
            <a:blip r:embed="rId4"/>
            <a:srcRect l="0" t="3414" r="0" b="-3403"/>
            <a:stretch/>
          </p:blipFill>
          <p:spPr>
            <a:xfrm>
              <a:off x="1491120" y="1244880"/>
              <a:ext cx="2977920" cy="564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" name="Google Shape;17;p2"/>
            <p:cNvSpPr/>
            <p:nvPr/>
          </p:nvSpPr>
          <p:spPr>
            <a:xfrm>
              <a:off x="1238400" y="1034280"/>
              <a:ext cx="3483360" cy="984960"/>
            </a:xfrm>
            <a:prstGeom prst="rect">
              <a:avLst/>
            </a:prstGeom>
            <a:solidFill>
              <a:srgbClr val="171a53"/>
            </a:solidFill>
            <a:ln w="9525">
              <a:solidFill>
                <a:srgbClr val="171a5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82880" rIns="182880" tIns="182880" bIns="1828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6" name="Google Shape;18;p2" descr=""/>
            <p:cNvPicPr/>
            <p:nvPr/>
          </p:nvPicPr>
          <p:blipFill>
            <a:blip r:embed="rId5"/>
            <a:stretch/>
          </p:blipFill>
          <p:spPr>
            <a:xfrm>
              <a:off x="1231920" y="1041840"/>
              <a:ext cx="3495960" cy="9705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" name="Google Shape;19;p2"/>
          <p:cNvSpPr/>
          <p:nvPr/>
        </p:nvSpPr>
        <p:spPr>
          <a:xfrm>
            <a:off x="279360" y="9860040"/>
            <a:ext cx="7914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d97ad"/>
                </a:solidFill>
                <a:latin typeface="Open Sans"/>
                <a:ea typeface="Open Sans"/>
              </a:rPr>
              <a:t>© 2024 Udacity.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91;p11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6920" cy="114192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92;p11"/>
          <p:cNvSpPr/>
          <p:nvPr/>
        </p:nvSpPr>
        <p:spPr>
          <a:xfrm>
            <a:off x="577080" y="9439920"/>
            <a:ext cx="2609640" cy="61920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Google Shape;93;p11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8640" cy="619200"/>
          </a:xfrm>
          <a:prstGeom prst="rect">
            <a:avLst/>
          </a:prstGeom>
          <a:ln w="0">
            <a:noFill/>
          </a:ln>
        </p:spPr>
      </p:pic>
      <p:sp>
        <p:nvSpPr>
          <p:cNvPr id="13" name="Google Shape;94;p11"/>
          <p:cNvSpPr/>
          <p:nvPr/>
        </p:nvSpPr>
        <p:spPr>
          <a:xfrm>
            <a:off x="-360" y="-720"/>
            <a:ext cx="18286920" cy="9142920"/>
          </a:xfrm>
          <a:prstGeom prst="rect">
            <a:avLst/>
          </a:prstGeom>
          <a:solidFill>
            <a:srgbClr val="f0f0f0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Google Shape;95;p11"/>
          <p:cNvSpPr/>
          <p:nvPr/>
        </p:nvSpPr>
        <p:spPr>
          <a:xfrm>
            <a:off x="685800" y="434520"/>
            <a:ext cx="16915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2001"/>
              </a:spcAft>
              <a:tabLst>
                <a:tab algn="l" pos="0"/>
              </a:tabLst>
            </a:pPr>
            <a:r>
              <a:rPr b="0" lang="en" sz="4800" spc="-1" strike="noStrike">
                <a:solidFill>
                  <a:srgbClr val="0b0b0b"/>
                </a:solidFill>
                <a:latin typeface="Open Sans Light"/>
                <a:ea typeface="Open Sans Light"/>
              </a:rPr>
              <a:t>Title Placeholder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99;p12" descr=""/>
          <p:cNvPicPr/>
          <p:nvPr/>
        </p:nvPicPr>
        <p:blipFill>
          <a:blip r:embed="rId2"/>
          <a:stretch/>
        </p:blipFill>
        <p:spPr>
          <a:xfrm>
            <a:off x="0" y="0"/>
            <a:ext cx="18286920" cy="1028592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0;p12"/>
          <p:cNvSpPr/>
          <p:nvPr/>
        </p:nvSpPr>
        <p:spPr>
          <a:xfrm flipH="1">
            <a:off x="1284120" y="1009800"/>
            <a:ext cx="15715800" cy="8267040"/>
          </a:xfrm>
          <a:prstGeom prst="round2DiagRect">
            <a:avLst>
              <a:gd name="adj1" fmla="val 20143"/>
              <a:gd name="adj2" fmla="val 0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21;p3" descr=""/>
          <p:cNvPicPr/>
          <p:nvPr/>
        </p:nvPicPr>
        <p:blipFill>
          <a:blip r:embed="rId3"/>
          <a:stretch/>
        </p:blipFill>
        <p:spPr>
          <a:xfrm>
            <a:off x="0" y="0"/>
            <a:ext cx="18286920" cy="10285920"/>
          </a:xfrm>
          <a:prstGeom prst="rect">
            <a:avLst/>
          </a:prstGeom>
          <a:ln w="0">
            <a:noFill/>
          </a:ln>
        </p:spPr>
      </p:pic>
      <p:sp>
        <p:nvSpPr>
          <p:cNvPr id="18" name="Google Shape;23;p3"/>
          <p:cNvSpPr/>
          <p:nvPr/>
        </p:nvSpPr>
        <p:spPr>
          <a:xfrm>
            <a:off x="577080" y="9439920"/>
            <a:ext cx="2609640" cy="619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Google Shape;24;p3" descr=""/>
          <p:cNvPicPr/>
          <p:nvPr/>
        </p:nvPicPr>
        <p:blipFill>
          <a:blip r:embed="rId4"/>
          <a:stretch/>
        </p:blipFill>
        <p:spPr>
          <a:xfrm>
            <a:off x="667800" y="9434160"/>
            <a:ext cx="2618640" cy="6192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6;p4"/>
          <p:cNvSpPr/>
          <p:nvPr/>
        </p:nvSpPr>
        <p:spPr>
          <a:xfrm>
            <a:off x="-360" y="0"/>
            <a:ext cx="18286920" cy="9142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" name="Google Shape;27;p4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6920" cy="1141920"/>
          </a:xfrm>
          <a:prstGeom prst="rect">
            <a:avLst/>
          </a:prstGeom>
          <a:ln w="0">
            <a:noFill/>
          </a:ln>
        </p:spPr>
      </p:pic>
      <p:sp>
        <p:nvSpPr>
          <p:cNvPr id="22" name="Google Shape;30;p4"/>
          <p:cNvSpPr/>
          <p:nvPr/>
        </p:nvSpPr>
        <p:spPr>
          <a:xfrm>
            <a:off x="577080" y="9439920"/>
            <a:ext cx="2609640" cy="61920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" name="Google Shape;31;p4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8640" cy="619200"/>
          </a:xfrm>
          <a:prstGeom prst="rect">
            <a:avLst/>
          </a:prstGeom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3;p5"/>
          <p:cNvSpPr/>
          <p:nvPr/>
        </p:nvSpPr>
        <p:spPr>
          <a:xfrm>
            <a:off x="360" y="0"/>
            <a:ext cx="18286920" cy="11365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Google Shape;35;p5" descr=""/>
          <p:cNvPicPr/>
          <p:nvPr/>
        </p:nvPicPr>
        <p:blipFill>
          <a:blip r:embed="rId2"/>
          <a:stretch/>
        </p:blipFill>
        <p:spPr>
          <a:xfrm>
            <a:off x="667800" y="9434160"/>
            <a:ext cx="2618640" cy="6192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37;p6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6920" cy="1141920"/>
          </a:xfrm>
          <a:prstGeom prst="rect">
            <a:avLst/>
          </a:prstGeom>
          <a:ln w="0">
            <a:noFill/>
          </a:ln>
        </p:spPr>
      </p:pic>
      <p:sp>
        <p:nvSpPr>
          <p:cNvPr id="29" name="Google Shape;38;p6"/>
          <p:cNvSpPr/>
          <p:nvPr/>
        </p:nvSpPr>
        <p:spPr>
          <a:xfrm>
            <a:off x="577080" y="9439920"/>
            <a:ext cx="2609640" cy="61920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" name="Google Shape;39;p6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8640" cy="619200"/>
          </a:xfrm>
          <a:prstGeom prst="rect">
            <a:avLst/>
          </a:prstGeom>
          <a:ln w="0">
            <a:noFill/>
          </a:ln>
        </p:spPr>
      </p:pic>
      <p:sp>
        <p:nvSpPr>
          <p:cNvPr id="31" name="Google Shape;40;p6"/>
          <p:cNvSpPr/>
          <p:nvPr/>
        </p:nvSpPr>
        <p:spPr>
          <a:xfrm>
            <a:off x="-360" y="0"/>
            <a:ext cx="18286920" cy="9142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Google Shape;41;p6"/>
          <p:cNvSpPr/>
          <p:nvPr/>
        </p:nvSpPr>
        <p:spPr>
          <a:xfrm>
            <a:off x="11623680" y="684360"/>
            <a:ext cx="5977440" cy="7773120"/>
          </a:xfrm>
          <a:prstGeom prst="round1Rect">
            <a:avLst>
              <a:gd name="adj" fmla="val 28421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Google Shape;42;p6"/>
          <p:cNvSpPr/>
          <p:nvPr/>
        </p:nvSpPr>
        <p:spPr>
          <a:xfrm>
            <a:off x="12058200" y="1523520"/>
            <a:ext cx="3913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2001"/>
              </a:spcAft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48;p7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6920" cy="1141920"/>
          </a:xfrm>
          <a:prstGeom prst="rect">
            <a:avLst/>
          </a:prstGeom>
          <a:ln w="0">
            <a:noFill/>
          </a:ln>
        </p:spPr>
      </p:pic>
      <p:sp>
        <p:nvSpPr>
          <p:cNvPr id="35" name="Google Shape;49;p7"/>
          <p:cNvSpPr/>
          <p:nvPr/>
        </p:nvSpPr>
        <p:spPr>
          <a:xfrm>
            <a:off x="577080" y="9439920"/>
            <a:ext cx="2609640" cy="61920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Google Shape;50;p7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8640" cy="619200"/>
          </a:xfrm>
          <a:prstGeom prst="rect">
            <a:avLst/>
          </a:prstGeom>
          <a:ln w="0">
            <a:noFill/>
          </a:ln>
        </p:spPr>
      </p:pic>
      <p:sp>
        <p:nvSpPr>
          <p:cNvPr id="37" name="Google Shape;51;p7"/>
          <p:cNvSpPr/>
          <p:nvPr/>
        </p:nvSpPr>
        <p:spPr>
          <a:xfrm>
            <a:off x="-360" y="0"/>
            <a:ext cx="18286920" cy="9142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52;p7"/>
          <p:cNvSpPr/>
          <p:nvPr/>
        </p:nvSpPr>
        <p:spPr>
          <a:xfrm>
            <a:off x="9829800" y="684360"/>
            <a:ext cx="7771320" cy="777312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58;p8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6920" cy="1141920"/>
          </a:xfrm>
          <a:prstGeom prst="rect">
            <a:avLst/>
          </a:prstGeom>
          <a:ln w="0">
            <a:noFill/>
          </a:ln>
        </p:spPr>
      </p:pic>
      <p:sp>
        <p:nvSpPr>
          <p:cNvPr id="40" name="Google Shape;59;p8"/>
          <p:cNvSpPr/>
          <p:nvPr/>
        </p:nvSpPr>
        <p:spPr>
          <a:xfrm>
            <a:off x="577080" y="9439920"/>
            <a:ext cx="2609640" cy="61920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" name="Google Shape;60;p8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8640" cy="619200"/>
          </a:xfrm>
          <a:prstGeom prst="rect">
            <a:avLst/>
          </a:prstGeom>
          <a:ln w="0">
            <a:noFill/>
          </a:ln>
        </p:spPr>
      </p:pic>
      <p:sp>
        <p:nvSpPr>
          <p:cNvPr id="42" name="Google Shape;61;p8"/>
          <p:cNvSpPr/>
          <p:nvPr/>
        </p:nvSpPr>
        <p:spPr>
          <a:xfrm>
            <a:off x="-360" y="0"/>
            <a:ext cx="18286920" cy="9142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62;p8"/>
          <p:cNvSpPr/>
          <p:nvPr/>
        </p:nvSpPr>
        <p:spPr>
          <a:xfrm>
            <a:off x="9487080" y="684360"/>
            <a:ext cx="8114040" cy="777312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Google Shape;63;p8"/>
          <p:cNvSpPr/>
          <p:nvPr/>
        </p:nvSpPr>
        <p:spPr>
          <a:xfrm flipH="1" rot="16200000">
            <a:off x="846720" y="495360"/>
            <a:ext cx="7785000" cy="813672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69;p9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6920" cy="1141920"/>
          </a:xfrm>
          <a:prstGeom prst="rect">
            <a:avLst/>
          </a:prstGeom>
          <a:ln w="0">
            <a:noFill/>
          </a:ln>
        </p:spPr>
      </p:pic>
      <p:sp>
        <p:nvSpPr>
          <p:cNvPr id="46" name="Google Shape;70;p9"/>
          <p:cNvSpPr/>
          <p:nvPr/>
        </p:nvSpPr>
        <p:spPr>
          <a:xfrm>
            <a:off x="577080" y="9439920"/>
            <a:ext cx="2609640" cy="61920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" name="Google Shape;71;p9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8640" cy="619200"/>
          </a:xfrm>
          <a:prstGeom prst="rect">
            <a:avLst/>
          </a:prstGeom>
          <a:ln w="0">
            <a:noFill/>
          </a:ln>
        </p:spPr>
      </p:pic>
      <p:sp>
        <p:nvSpPr>
          <p:cNvPr id="48" name="Google Shape;72;p9"/>
          <p:cNvSpPr/>
          <p:nvPr/>
        </p:nvSpPr>
        <p:spPr>
          <a:xfrm>
            <a:off x="-360" y="0"/>
            <a:ext cx="18286920" cy="9142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73;p9"/>
          <p:cNvSpPr/>
          <p:nvPr/>
        </p:nvSpPr>
        <p:spPr>
          <a:xfrm>
            <a:off x="6547320" y="1936080"/>
            <a:ext cx="5192640" cy="65214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74;p9"/>
          <p:cNvSpPr/>
          <p:nvPr/>
        </p:nvSpPr>
        <p:spPr>
          <a:xfrm>
            <a:off x="685800" y="1936080"/>
            <a:ext cx="5192640" cy="65214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75;p9"/>
          <p:cNvSpPr/>
          <p:nvPr/>
        </p:nvSpPr>
        <p:spPr>
          <a:xfrm>
            <a:off x="12408480" y="1936080"/>
            <a:ext cx="5192640" cy="65214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84;p10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6920" cy="1141920"/>
          </a:xfrm>
          <a:prstGeom prst="rect">
            <a:avLst/>
          </a:prstGeom>
          <a:ln w="0">
            <a:noFill/>
          </a:ln>
        </p:spPr>
      </p:pic>
      <p:sp>
        <p:nvSpPr>
          <p:cNvPr id="53" name="Google Shape;85;p10"/>
          <p:cNvSpPr/>
          <p:nvPr/>
        </p:nvSpPr>
        <p:spPr>
          <a:xfrm>
            <a:off x="577080" y="9439920"/>
            <a:ext cx="2609640" cy="61920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" name="Google Shape;86;p10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8640" cy="619200"/>
          </a:xfrm>
          <a:prstGeom prst="rect">
            <a:avLst/>
          </a:prstGeom>
          <a:ln w="0">
            <a:noFill/>
          </a:ln>
        </p:spPr>
      </p:pic>
      <p:sp>
        <p:nvSpPr>
          <p:cNvPr id="55" name="Google Shape;87;p10"/>
          <p:cNvSpPr/>
          <p:nvPr/>
        </p:nvSpPr>
        <p:spPr>
          <a:xfrm>
            <a:off x="-360" y="-720"/>
            <a:ext cx="18286920" cy="9142920"/>
          </a:xfrm>
          <a:prstGeom prst="rect">
            <a:avLst/>
          </a:prstGeom>
          <a:solidFill>
            <a:srgbClr val="f0f0f0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Google Shape;88;p10"/>
          <p:cNvSpPr/>
          <p:nvPr/>
        </p:nvSpPr>
        <p:spPr>
          <a:xfrm>
            <a:off x="685800" y="434520"/>
            <a:ext cx="16915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2001"/>
              </a:spcAft>
              <a:tabLst>
                <a:tab algn="l" pos="0"/>
              </a:tabLst>
            </a:pPr>
            <a:r>
              <a:rPr b="0" lang="en" sz="4800" spc="-1" strike="noStrike">
                <a:solidFill>
                  <a:srgbClr val="0b0b0b"/>
                </a:solidFill>
                <a:latin typeface="Open Sans Light"/>
                <a:ea typeface="Open Sans Light"/>
              </a:rPr>
              <a:t>Title Placeholder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06;p13"/>
          <p:cNvSpPr/>
          <p:nvPr/>
        </p:nvSpPr>
        <p:spPr>
          <a:xfrm>
            <a:off x="279360" y="9860040"/>
            <a:ext cx="7914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d97ad"/>
                </a:solidFill>
                <a:latin typeface="Open Sans"/>
                <a:ea typeface="Open Sans"/>
              </a:rPr>
              <a:t>© 2024 Udacity.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225080" y="2814120"/>
            <a:ext cx="10069200" cy="41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" sz="9000" spc="-1" strike="noStrike">
                <a:solidFill>
                  <a:schemeClr val="lt1"/>
                </a:solidFill>
                <a:latin typeface="Open Sans Light"/>
                <a:ea typeface="Open Sans Light"/>
              </a:rPr>
              <a:t>Analysis of Salary Data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256040" y="7560000"/>
            <a:ext cx="10038600" cy="83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31000"/>
              </a:lnSpc>
              <a:buNone/>
              <a:tabLst>
                <a:tab algn="l" pos="0"/>
              </a:tabLst>
            </a:pPr>
            <a:r>
              <a:rPr b="1" lang="en" sz="3600" spc="-1" strike="noStrike">
                <a:solidFill>
                  <a:schemeClr val="lt1"/>
                </a:solidFill>
                <a:latin typeface="Open Sans"/>
                <a:ea typeface="Open Sans"/>
              </a:rPr>
              <a:t>Data Scientist: Greg Hein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31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307800"/>
            <a:ext cx="16915320" cy="150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Agenda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85800" y="1828800"/>
            <a:ext cx="16392600" cy="662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400" spc="-1" strike="noStrike">
                <a:solidFill>
                  <a:schemeClr val="accent1"/>
                </a:solidFill>
                <a:latin typeface="Open Sans"/>
                <a:ea typeface="Open Sans"/>
              </a:rPr>
              <a:t>Findings of linear regression modeling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400" spc="-1" strike="noStrike">
                <a:solidFill>
                  <a:schemeClr val="accent1"/>
                </a:solidFill>
                <a:latin typeface="Open Sans"/>
                <a:ea typeface="Open Sans"/>
              </a:rPr>
              <a:t>with tech salary data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914400" indent="-723960">
              <a:lnSpc>
                <a:spcPct val="100000"/>
              </a:lnSpc>
              <a:spcBef>
                <a:spcPts val="1400"/>
              </a:spcBef>
              <a:buClr>
                <a:srgbClr val="0b0b0b"/>
              </a:buClr>
              <a:buFont typeface="Open Sans"/>
              <a:buChar char="●"/>
              <a:tabLst>
                <a:tab algn="l" pos="0"/>
              </a:tabLst>
            </a:pPr>
            <a:r>
              <a:rPr b="1" lang="en" sz="4200" spc="-1" strike="noStrike">
                <a:solidFill>
                  <a:schemeClr val="dk1"/>
                </a:solidFill>
                <a:latin typeface="Open Sans"/>
                <a:ea typeface="Open Sans"/>
              </a:rPr>
              <a:t>Data Description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marL="914400" indent="-723960">
              <a:lnSpc>
                <a:spcPct val="100000"/>
              </a:lnSpc>
              <a:buClr>
                <a:srgbClr val="0b0b0b"/>
              </a:buClr>
              <a:buFont typeface="Open Sans"/>
              <a:buChar char="●"/>
              <a:tabLst>
                <a:tab algn="l" pos="0"/>
              </a:tabLst>
            </a:pPr>
            <a:r>
              <a:rPr b="1" lang="en" sz="4200" spc="-1" strike="noStrike">
                <a:solidFill>
                  <a:schemeClr val="dk1"/>
                </a:solidFill>
                <a:latin typeface="Open Sans"/>
                <a:ea typeface="Open Sans"/>
              </a:rPr>
              <a:t>Regression Results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marL="914400" indent="-7239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b0b0b"/>
              </a:buClr>
              <a:buFont typeface="Open Sans"/>
              <a:buChar char="●"/>
              <a:tabLst>
                <a:tab algn="l" pos="0"/>
              </a:tabLst>
            </a:pPr>
            <a:r>
              <a:rPr b="1" lang="en" sz="4200" spc="-1" strike="noStrike">
                <a:solidFill>
                  <a:schemeClr val="dk1"/>
                </a:solidFill>
                <a:latin typeface="Open Sans"/>
                <a:ea typeface="Open Sans"/>
              </a:rPr>
              <a:t>Interpretation of Model Results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15000"/>
              </a:lnSpc>
              <a:spcBef>
                <a:spcPts val="1400"/>
              </a:spcBef>
              <a:spcAft>
                <a:spcPts val="2001"/>
              </a:spcAft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5800" y="307800"/>
            <a:ext cx="16915320" cy="150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Data Description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751680" y="1768680"/>
            <a:ext cx="16392600" cy="691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There are a total of 375 employees in the original dataset.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For each employee, the original dataset has entries for:  Age, Gender, Education Level, Job Title, Years of Experience, and Salary.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To make use of Job Title column, it was analyzed to see whether certain words were contained in the Job Title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List of Job Title words used: Director, Junior, Senior, Manager, Analyst, Engineer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15000"/>
              </a:lnSpc>
              <a:spcBef>
                <a:spcPts val="1400"/>
              </a:spcBef>
              <a:spcAft>
                <a:spcPts val="2001"/>
              </a:spcAft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Google Shape;129;p 4"/>
          <p:cNvSpPr/>
          <p:nvPr/>
        </p:nvSpPr>
        <p:spPr>
          <a:xfrm>
            <a:off x="686160" y="308160"/>
            <a:ext cx="1691532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Data Description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Google Shape;129;p 5"/>
          <p:cNvSpPr/>
          <p:nvPr/>
        </p:nvSpPr>
        <p:spPr>
          <a:xfrm>
            <a:off x="686160" y="308160"/>
            <a:ext cx="1691532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Data Description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862560" y="1600200"/>
            <a:ext cx="16764120" cy="68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" sz="4000" spc="-1" strike="noStrike">
                <a:solidFill>
                  <a:schemeClr val="dk1"/>
                </a:solidFill>
                <a:latin typeface="Open Sans"/>
                <a:ea typeface="Open Sans"/>
              </a:rPr>
              <a:t>After inspection, it was found 2 of the employees had null data so those two employees were dropped from the dataset leaving 373 employees.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" sz="4000" spc="-1" strike="noStrike">
                <a:solidFill>
                  <a:schemeClr val="dk1"/>
                </a:solidFill>
                <a:latin typeface="Open Sans"/>
                <a:ea typeface="Open Sans"/>
              </a:rPr>
              <a:t>The Salaries in the dataset range from $350 to $250,000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29;p 3"/>
          <p:cNvSpPr/>
          <p:nvPr/>
        </p:nvSpPr>
        <p:spPr>
          <a:xfrm>
            <a:off x="686160" y="308160"/>
            <a:ext cx="1691532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Data Description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29;p 1"/>
          <p:cNvSpPr/>
          <p:nvPr/>
        </p:nvSpPr>
        <p:spPr>
          <a:xfrm>
            <a:off x="686160" y="308160"/>
            <a:ext cx="1691532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Data Description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130;p 1"/>
          <p:cNvSpPr/>
          <p:nvPr/>
        </p:nvSpPr>
        <p:spPr>
          <a:xfrm>
            <a:off x="914400" y="1732680"/>
            <a:ext cx="16621200" cy="69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3600" spc="-1" strike="noStrike" u="sng">
                <a:solidFill>
                  <a:schemeClr val="dk1"/>
                </a:solidFill>
                <a:uFillTx/>
                <a:latin typeface="Open Sans"/>
                <a:ea typeface="Open Sans"/>
              </a:rPr>
              <a:t>Relationship between employee characteristics and Salary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-------------------------------------------------------------------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Average Salaries for each Education Level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Bachelor's     74756.026786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Master's      129795.918367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PhD           157843.137255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15000"/>
              </a:lnSpc>
              <a:spcBef>
                <a:spcPts val="1400"/>
              </a:spcBef>
              <a:spcAft>
                <a:spcPts val="2001"/>
              </a:spcAft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909000" y="2673000"/>
            <a:ext cx="13720680" cy="25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Average Salaries for each Gender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Female     97011.173184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Male      103867.783505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1887200" y="3200400"/>
            <a:ext cx="5029200" cy="367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The average values for Salaries for Gender and Education Level here show differences that suggest an influence of both on Salary</a:t>
            </a:r>
            <a:endParaRPr b="1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29;p 2"/>
          <p:cNvSpPr/>
          <p:nvPr/>
        </p:nvSpPr>
        <p:spPr>
          <a:xfrm>
            <a:off x="686520" y="308520"/>
            <a:ext cx="1691532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Data Description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7405200" y="2514600"/>
            <a:ext cx="9281880" cy="5714280"/>
          </a:xfrm>
          <a:prstGeom prst="rect">
            <a:avLst/>
          </a:prstGeom>
          <a:ln w="0">
            <a:noFill/>
          </a:ln>
        </p:spPr>
      </p:pic>
      <p:sp>
        <p:nvSpPr>
          <p:cNvPr id="74" name=""/>
          <p:cNvSpPr/>
          <p:nvPr/>
        </p:nvSpPr>
        <p:spPr>
          <a:xfrm>
            <a:off x="914400" y="2971800"/>
            <a:ext cx="6032160" cy="19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Years of Experience plotted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Against Salary suggests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A linear relationship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922680" y="1771560"/>
            <a:ext cx="155358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" sz="3600" spc="-1" strike="noStrike" u="sng">
                <a:solidFill>
                  <a:schemeClr val="dk1"/>
                </a:solidFill>
                <a:uFillTx/>
                <a:latin typeface="Open Sans"/>
                <a:ea typeface="Open Sans"/>
              </a:rPr>
              <a:t>Relationships between employee characteristics and Salary (cont’d)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85800" y="307800"/>
            <a:ext cx="16915320" cy="150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Regression Results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86160" y="1816920"/>
            <a:ext cx="17367120" cy="66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After an initial regression run it was determined that the Job Title fields in the dataset associated with the words:  junior, analyst, and engineer were not statistically significant.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Those fields were removed from the final linear regression model.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After their removal, all remaining fields were statistically significant.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35;p 1"/>
          <p:cNvSpPr/>
          <p:nvPr/>
        </p:nvSpPr>
        <p:spPr>
          <a:xfrm>
            <a:off x="686160" y="308160"/>
            <a:ext cx="1691532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Regression Results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36;p 1"/>
          <p:cNvSpPr/>
          <p:nvPr/>
        </p:nvSpPr>
        <p:spPr>
          <a:xfrm>
            <a:off x="686160" y="1697040"/>
            <a:ext cx="16392600" cy="69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86160" y="1600200"/>
            <a:ext cx="12115080" cy="68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                            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OLS Regression Results         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==============================================================================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Dep. Variable:                 Salary   R-squared:                       0.914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Model:                            OLS   Adj. R-squared:                  0.913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Method:                 Least Squares   F-statistic:                     557.4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Date:                Wed, 10 Dec 2025   Prob (F-statistic):          1.46e-190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Time:                        21:53:52   Log-Likelihood:                -4092.6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No. Observations:                 373   AIC:                             8201.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Df Residuals:                     365   BIC:                             8233.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Df Model:                           7                      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Covariance Type:            nonrobust                      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============================================================================================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                               </a:t>
            </a: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coef    std err          t      P&gt;|t|      [0.025      0.975]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--------------------------------------------------------------------------------------------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intercept                 2.876e+04   1677.411     17.146      0.000    2.55e+04    3.21e+04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Gender_Male               7629.6521   1481.834      5.149      0.000    4715.649    1.05e+04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is_director               2.498e+04   3503.028      7.131      0.000    1.81e+04    3.19e+04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is_senior                 1.445e+04   1820.427      7.936      0.000    1.09e+04     1.8e+04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is_manager                4284.6595   1822.582      2.351      0.019     700.579    7868.740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Years of Experience       5104.4388    177.226     28.802      0.000    4755.927    5452.950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Education Level_Master's  1.404e+04   2032.078      6.908      0.000       1e+04     1.8e+04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Education Level_PhD       2.308e+04   2760.740      8.360      0.000    1.77e+04    2.85e+04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==============================================================================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Omnibus:                      126.635   Durbin-Watson:                   1.790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Prob(Omnibus):                  0.000   Jarque-Bera (JB):             1010.895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Skew:                           1.196   Prob(JB):                    3.07e-220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Kurtosis:                      10.702   Cond. No.                         60.8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ourier New"/>
              </a:rPr>
              <a:t>==============================================================================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35;p 2"/>
          <p:cNvSpPr/>
          <p:nvPr/>
        </p:nvSpPr>
        <p:spPr>
          <a:xfrm>
            <a:off x="686520" y="308520"/>
            <a:ext cx="1691532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Regression Results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36;p 2"/>
          <p:cNvSpPr/>
          <p:nvPr/>
        </p:nvSpPr>
        <p:spPr>
          <a:xfrm>
            <a:off x="686520" y="1769400"/>
            <a:ext cx="16392600" cy="69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15000"/>
              </a:lnSpc>
              <a:spcBef>
                <a:spcPts val="1400"/>
              </a:spcBef>
              <a:spcAft>
                <a:spcPts val="2001"/>
              </a:spcAft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3200400" y="1769400"/>
            <a:ext cx="11429640" cy="668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85800" y="307800"/>
            <a:ext cx="16915320" cy="150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Interpretation of Model Results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752040" y="1769040"/>
            <a:ext cx="16392600" cy="691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" sz="4200" spc="-1" strike="noStrike">
                <a:solidFill>
                  <a:schemeClr val="dk1"/>
                </a:solidFill>
                <a:latin typeface="Open Sans"/>
                <a:ea typeface="Open Sans"/>
              </a:rPr>
              <a:t>Years of Experience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With each additional year of experience, the expected change in salary is an increase of $5,104.43.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We can be 95% confident that salary will increase between 4755.93 and 5452.95 dollars with each additional year of experience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41;p 1"/>
          <p:cNvSpPr/>
          <p:nvPr/>
        </p:nvSpPr>
        <p:spPr>
          <a:xfrm>
            <a:off x="686160" y="308160"/>
            <a:ext cx="1691532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Interpretation of Model Results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142;p 1"/>
          <p:cNvSpPr/>
          <p:nvPr/>
        </p:nvSpPr>
        <p:spPr>
          <a:xfrm>
            <a:off x="686160" y="1829160"/>
            <a:ext cx="16392600" cy="69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15000"/>
              </a:lnSpc>
              <a:spcBef>
                <a:spcPts val="1400"/>
              </a:spcBef>
              <a:spcAft>
                <a:spcPts val="2001"/>
              </a:spcAft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/>
          <p:nvPr/>
        </p:nvSpPr>
        <p:spPr>
          <a:xfrm>
            <a:off x="752040" y="1769040"/>
            <a:ext cx="16392600" cy="69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4200" spc="-1" strike="noStrike">
                <a:solidFill>
                  <a:schemeClr val="dk1"/>
                </a:solidFill>
                <a:latin typeface="Open Sans"/>
                <a:ea typeface="Open Sans"/>
              </a:rPr>
              <a:t>Senior Job Title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If the employee has a senior job title, the expected change in salary is an increase of $14,450.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600" spc="-1" strike="noStrike">
                <a:solidFill>
                  <a:schemeClr val="dk1"/>
                </a:solidFill>
                <a:latin typeface="Open Sans"/>
                <a:ea typeface="Open Sans"/>
              </a:rPr>
              <a:t>We can be 95% confident that salary will increase between 10,900 and 18,000 dollars with a senior job title.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lastPrinted>2025-12-10T23:25:17Z</cp:lastPrinted>
  <dcterms:modified xsi:type="dcterms:W3CDTF">2025-12-11T21:07:18Z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